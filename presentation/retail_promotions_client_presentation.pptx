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8.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0.xml" ContentType="application/vnd.openxmlformats-officedocument.drawingml.chart+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f060d49146469c" /><Relationship Type="http://schemas.openxmlformats.org/officeDocument/2006/relationships/extended-properties" Target="/docProps/app.xml" Id="Re92666a892dc4fce" /><Relationship Type="http://schemas.openxmlformats.org/officeDocument/2006/relationships/officeDocument" Target="/ppt/presentation.xml" Id="R06076a8e1d08413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ab8596d8c554146"/>
  </p:sldMasterIdLst>
  <p:notesMasterIdLst>
    <p:notesMasterId xmlns:r="http://schemas.openxmlformats.org/officeDocument/2006/relationships" r:id="Re9081e6dae164c77"/>
  </p:notesMasterIdLst>
  <p:sldIdLst>
    <p:sldId xmlns:r="http://schemas.openxmlformats.org/officeDocument/2006/relationships" id="256" r:id="R24ab42078df34b42"/>
    <p:sldId xmlns:r="http://schemas.openxmlformats.org/officeDocument/2006/relationships" id="257" r:id="R1c56083de42e4a5d"/>
    <p:sldId xmlns:r="http://schemas.openxmlformats.org/officeDocument/2006/relationships" id="258" r:id="R56a9e114043a478f"/>
    <p:sldId xmlns:r="http://schemas.openxmlformats.org/officeDocument/2006/relationships" id="259" r:id="R3c989392bb9441d6"/>
    <p:sldId xmlns:r="http://schemas.openxmlformats.org/officeDocument/2006/relationships" id="260" r:id="R649b98c8b6164ef6"/>
    <p:sldId xmlns:r="http://schemas.openxmlformats.org/officeDocument/2006/relationships" id="261" r:id="R4719bd937b934f79"/>
    <p:sldId xmlns:r="http://schemas.openxmlformats.org/officeDocument/2006/relationships" id="262" r:id="R60867d59f6184eae"/>
    <p:sldId xmlns:r="http://schemas.openxmlformats.org/officeDocument/2006/relationships" id="263" r:id="Rd331cb4e198948a4"/>
    <p:sldId xmlns:r="http://schemas.openxmlformats.org/officeDocument/2006/relationships" id="264" r:id="R3139e06a3e9340fe"/>
  </p:sldIdLst>
  <p:sldSz cx="12192000" cy="6858000"/>
  <p:notesSz cx="6858000" cy="9144000"/>
  <p:embeddedFontLst>
    <p:embeddedFont>
      <p:font typeface="Lora"/>
      <p:regular xmlns:r="http://schemas.openxmlformats.org/officeDocument/2006/relationships" r:id="R7a7e3510cf5d46a4"/>
      <p:bold xmlns:r="http://schemas.openxmlformats.org/officeDocument/2006/relationships" r:id="R1cf11249e58344b2"/>
      <p:italic xmlns:r="http://schemas.openxmlformats.org/officeDocument/2006/relationships" r:id="Rbf4e5f9195f2487a"/>
      <p:boldItalic xmlns:r="http://schemas.openxmlformats.org/officeDocument/2006/relationships" r:id="Ra4b9a1ea875041f2"/>
    </p:embeddedFont>
    <p:embeddedFont>
      <p:font typeface="OpenAI Sans"/>
      <p:regular xmlns:r="http://schemas.openxmlformats.org/officeDocument/2006/relationships" r:id="R309002fe52764f35"/>
      <p:bold xmlns:r="http://schemas.openxmlformats.org/officeDocument/2006/relationships" r:id="R2fcdfd22f2854f82"/>
      <p:italic xmlns:r="http://schemas.openxmlformats.org/officeDocument/2006/relationships" r:id="R3ed66c19952941ab"/>
      <p:boldItalic xmlns:r="http://schemas.openxmlformats.org/officeDocument/2006/relationships" r:id="R7a268daa248c47d0"/>
    </p:embeddedFont>
    <p:embeddedFont>
      <p:font typeface="Roboto"/>
      <p:regular xmlns:r="http://schemas.openxmlformats.org/officeDocument/2006/relationships" r:id="R518693fc17694245"/>
      <p:bold xmlns:r="http://schemas.openxmlformats.org/officeDocument/2006/relationships" r:id="R402c82f953b248d1"/>
      <p:italic xmlns:r="http://schemas.openxmlformats.org/officeDocument/2006/relationships" r:id="Ra5e48adba5ab4503"/>
      <p:boldItalic xmlns:r="http://schemas.openxmlformats.org/officeDocument/2006/relationships" r:id="Rcd7eb1028fa34d1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9c64f4d936e4e06" /><Relationship Type="http://schemas.openxmlformats.org/officeDocument/2006/relationships/slideMaster" Target="/ppt/slideMasters/slideMaster1.xml" Id="Rdab8596d8c554146" /><Relationship Type="http://schemas.openxmlformats.org/officeDocument/2006/relationships/notesMaster" Target="/ppt/notesMasters/notesMaster1.xml" Id="Re9081e6dae164c77" /><Relationship Type="http://schemas.openxmlformats.org/officeDocument/2006/relationships/presProps" Target="/ppt/presProps.xml" Id="Ra28e473986024a0b" /><Relationship Type="http://schemas.openxmlformats.org/officeDocument/2006/relationships/viewProps" Target="/ppt/viewProps.xml" Id="Ra9687173fb594827" /><Relationship Type="http://schemas.openxmlformats.org/officeDocument/2006/relationships/tableStyles" Target="/ppt/tableStyles.xml" Id="R0281ee60772d428f" /><Relationship Type="http://schemas.openxmlformats.org/officeDocument/2006/relationships/font" Target="/ppt/fonts/font.dat" Id="R7a7e3510cf5d46a4" /><Relationship Type="http://schemas.openxmlformats.org/officeDocument/2006/relationships/font" Target="/ppt/fonts/font2.dat" Id="R1cf11249e58344b2" /><Relationship Type="http://schemas.openxmlformats.org/officeDocument/2006/relationships/font" Target="/ppt/fonts/font3.dat" Id="Rbf4e5f9195f2487a" /><Relationship Type="http://schemas.openxmlformats.org/officeDocument/2006/relationships/font" Target="/ppt/fonts/font4.dat" Id="Ra4b9a1ea875041f2" /><Relationship Type="http://schemas.openxmlformats.org/officeDocument/2006/relationships/font" Target="/ppt/fonts/font5.dat" Id="R309002fe52764f35" /><Relationship Type="http://schemas.openxmlformats.org/officeDocument/2006/relationships/font" Target="/ppt/fonts/font6.dat" Id="R2fcdfd22f2854f82" /><Relationship Type="http://schemas.openxmlformats.org/officeDocument/2006/relationships/font" Target="/ppt/fonts/font7.dat" Id="R3ed66c19952941ab" /><Relationship Type="http://schemas.openxmlformats.org/officeDocument/2006/relationships/font" Target="/ppt/fonts/font8.dat" Id="R7a268daa248c47d0" /><Relationship Type="http://schemas.openxmlformats.org/officeDocument/2006/relationships/font" Target="/ppt/fonts/font9.dat" Id="R518693fc17694245" /><Relationship Type="http://schemas.openxmlformats.org/officeDocument/2006/relationships/font" Target="/ppt/fonts/font10.dat" Id="R402c82f953b248d1" /><Relationship Type="http://schemas.openxmlformats.org/officeDocument/2006/relationships/font" Target="/ppt/fonts/font11.dat" Id="Ra5e48adba5ab4503" /><Relationship Type="http://schemas.openxmlformats.org/officeDocument/2006/relationships/font" Target="/ppt/fonts/font12.dat" Id="Rcd7eb1028fa34d16" /><Relationship Type="http://schemas.openxmlformats.org/officeDocument/2006/relationships/slide" Target="/ppt/slides/slide1.xml" Id="R24ab42078df34b42" /><Relationship Type="http://schemas.openxmlformats.org/officeDocument/2006/relationships/slide" Target="/ppt/slides/slide2.xml" Id="R1c56083de42e4a5d" /><Relationship Type="http://schemas.openxmlformats.org/officeDocument/2006/relationships/slide" Target="/ppt/slides/slide3.xml" Id="R56a9e114043a478f" /><Relationship Type="http://schemas.openxmlformats.org/officeDocument/2006/relationships/slide" Target="/ppt/slides/slide4.xml" Id="R3c989392bb9441d6" /><Relationship Type="http://schemas.openxmlformats.org/officeDocument/2006/relationships/slide" Target="/ppt/slides/slide5.xml" Id="R649b98c8b6164ef6" /><Relationship Type="http://schemas.openxmlformats.org/officeDocument/2006/relationships/slide" Target="/ppt/slides/slide6.xml" Id="R4719bd937b934f79" /><Relationship Type="http://schemas.openxmlformats.org/officeDocument/2006/relationships/slide" Target="/ppt/slides/slide7.xml" Id="R60867d59f6184eae" /><Relationship Type="http://schemas.openxmlformats.org/officeDocument/2006/relationships/slide" Target="/ppt/slides/slide8.xml" Id="Rd331cb4e198948a4" /><Relationship Type="http://schemas.openxmlformats.org/officeDocument/2006/relationships/slide" Target="/ppt/slides/slide9.xml" Id="R3139e06a3e9340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f3fa12c45143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Lora Roboto">
      <a:majorFont>
        <a:latin typeface="Lora"/>
        <a:ea typeface=""/>
        <a:cs typeface=""/>
      </a:majorFont>
      <a:minorFont>
        <a:latin typeface="Roboto"/>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04b4b75baa49db" /><Relationship Type="http://schemas.openxmlformats.org/officeDocument/2006/relationships/notesMaster" Target="/ppt/notesMasters/notesMaster1.xml" Id="R7d89976deeb643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2f36462d28410d" /><Relationship Type="http://schemas.openxmlformats.org/officeDocument/2006/relationships/notesMaster" Target="/ppt/notesMasters/notesMaster1.xml" Id="Rb149daa60dad46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cfd4071d6c4f6a" /><Relationship Type="http://schemas.openxmlformats.org/officeDocument/2006/relationships/notesMaster" Target="/ppt/notesMasters/notesMaster1.xml" Id="Ra6a6a0dda1d748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3c6e5911d948c6" /><Relationship Type="http://schemas.openxmlformats.org/officeDocument/2006/relationships/notesMaster" Target="/ppt/notesMasters/notesMaster1.xml" Id="R239c516a96074e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8cd22ced0f43b8" /><Relationship Type="http://schemas.openxmlformats.org/officeDocument/2006/relationships/notesMaster" Target="/ppt/notesMasters/notesMaster1.xml" Id="R07aeb28fe8f34e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5b97195374497f" /><Relationship Type="http://schemas.openxmlformats.org/officeDocument/2006/relationships/notesMaster" Target="/ppt/notesMasters/notesMaster1.xml" Id="R9b113cd32c6646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8cd2fd1048479e" /><Relationship Type="http://schemas.openxmlformats.org/officeDocument/2006/relationships/notesMaster" Target="/ppt/notesMasters/notesMaster1.xml" Id="R686dbbb2aeda42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b5507d88824cd5" /><Relationship Type="http://schemas.openxmlformats.org/officeDocument/2006/relationships/notesMaster" Target="/ppt/notesMasters/notesMaster1.xml" Id="R8e64c44a848344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8bf1a0203849e5" /><Relationship Type="http://schemas.openxmlformats.org/officeDocument/2006/relationships/notesMaster" Target="/ppt/notesMasters/notesMaster1.xml" Id="R9da7415d997142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presentation reviews promotional performance across cities, product categories and promotion types. I will focus on sales volume, revenue and the trade-off between the two. Source: supplied retail promotions datasets and client requests.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analysis points to three main findings. Grocery and Staples dominated Sankranti unit volume. Madurai delivered the strongest percentage growth in units. Bengaluru produced a large revenue increase, led mainly by Combo1. These are aggregate results, so later slides separate volume from revenue.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Bengaluru has the most stores at 10. Chennai has 8 and Hyderabad has 7, so Bengaluru has two more stores than Chennai and three more than Hyderabad. The remaining markets are smaller, with a maximum of five stores each. Store count affects total sales opportunity, so percentage metrics are also important when comparing cities.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During Sankranti, Grocery and Staples generated 177,724 post-promotion units, equal to 70.51 percent of the total. Home Appliances followed at 14.13 percent. This concentration suggests that grocery promotions should receive the most inventory support, while smaller categories need targeted tests rather than uniform discounting.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Pearson correlation is 0.269, which indicates a weak positive association. Price by itself does not explain post-promotion sales quantity. Category mix, product demand and promotion type can all affect this result. Therefore, this analysis does not establish a causal relationship between higher prices and higher sales.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histograms show substantial differences in baseline demand. Grocery and Staples has a median of 317 units and a much wider range. Combo1 has a median of 147. Home Appliances, Personal Care and Home Care have medians below 75. Future promotions should use category-specific baselines instead of applying one sales target across every category.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Madurai achieved the highest incremental sold units percentage at 121.28 percent. Visakhapatnam had the smallest change at 99.07 percent. Every city still increased its sales volume, but the range shows that local response differs. Store teams should investigate promotion mix and category mix in Madurai before copying the strategy elsewhere.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Hyderabad illustrates why volume and revenue must be measured separately. BOGOF generated the most incremental units, at 24,168, and added 3.18 million in revenue. The 500 Cashback promotion generated fewer extra units, but produced the highest incremental revenue at 12.87 million. Percentage discounts performed much worse, and 25 percent off reduced both units and revenue.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Bengaluru's total revenue increased by 81.34 percent, from 32.91 million to 59.68 million. Combo1 produced 22.35 million of incremental revenue and was the main driver. Home Appliances and Home Care also improved. Personal Care fell by 32.39 percent, so its current promotion mix should be reviewed before the next campaign. My recommendation is to protect inventory for Combo1 and run targeted tests for the weaker category.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db3c2a2ae741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54a0e57d0845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5e4a69c4fb44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4b4fe33c1f4b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ebba1731744d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d26f8661ff48d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55620ba321243e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2ba0afe632c46e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89c90d0bc342e6" /><Relationship Type="http://schemas.openxmlformats.org/officeDocument/2006/relationships/slideLayout" Target="/ppt/slideLayouts/slideLayout1.xml" Id="R342579247d67428b" /><Relationship Type="http://schemas.openxmlformats.org/officeDocument/2006/relationships/slideLayout" Target="/ppt/slideLayouts/slideLayout2.xml" Id="R36461e3e6de3408e" /><Relationship Type="http://schemas.openxmlformats.org/officeDocument/2006/relationships/slideLayout" Target="/ppt/slideLayouts/slideLayout3.xml" Id="R191c3bf3090d4ef0" /><Relationship Type="http://schemas.openxmlformats.org/officeDocument/2006/relationships/slideLayout" Target="/ppt/slideLayouts/slideLayout4.xml" Id="R48ae99822e374f85" /><Relationship Type="http://schemas.openxmlformats.org/officeDocument/2006/relationships/slideLayout" Target="/ppt/slideLayouts/slideLayout5.xml" Id="R214d679235b44336" /><Relationship Type="http://schemas.openxmlformats.org/officeDocument/2006/relationships/slideLayout" Target="/ppt/slideLayouts/slideLayout6.xml" Id="Rb42d755f9579441b" /><Relationship Type="http://schemas.openxmlformats.org/officeDocument/2006/relationships/slideLayout" Target="/ppt/slideLayouts/slideLayout7.xml" Id="Rf0826a32e6e344fe" /><Relationship Type="http://schemas.openxmlformats.org/officeDocument/2006/relationships/slideLayout" Target="/ppt/slideLayouts/slideLayout8.xml" Id="R322d837f0a7d4e6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342579247d67428b"/>
    <p:sldLayoutId xmlns:r="http://schemas.openxmlformats.org/officeDocument/2006/relationships" id="2147483650" r:id="R36461e3e6de3408e"/>
    <p:sldLayoutId xmlns:r="http://schemas.openxmlformats.org/officeDocument/2006/relationships" id="2147483651" r:id="R191c3bf3090d4ef0"/>
    <p:sldLayoutId xmlns:r="http://schemas.openxmlformats.org/officeDocument/2006/relationships" id="2147483652" r:id="R48ae99822e374f85"/>
    <p:sldLayoutId xmlns:r="http://schemas.openxmlformats.org/officeDocument/2006/relationships" id="2147483653" r:id="R214d679235b44336"/>
    <p:sldLayoutId xmlns:r="http://schemas.openxmlformats.org/officeDocument/2006/relationships" id="2147483654" r:id="Rb42d755f9579441b"/>
    <p:sldLayoutId xmlns:r="http://schemas.openxmlformats.org/officeDocument/2006/relationships" id="2147483655" r:id="Rf0826a32e6e344fe"/>
    <p:sldLayoutId xmlns:r="http://schemas.openxmlformats.org/officeDocument/2006/relationships" id="2147483656" r:id="R322d837f0a7d4e6a"/>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Lora Roboto">
      <a:majorFont>
        <a:latin typeface="Lora"/>
        <a:ea typeface=""/>
        <a:cs typeface=""/>
      </a:majorFont>
      <a:minorFont>
        <a:latin typeface="Roboto"/>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72c2048af1418e" /><Relationship Type="http://schemas.openxmlformats.org/officeDocument/2006/relationships/notesSlide" Target="/ppt/notesSlides/notesSlide1.xml" Id="Re0a41512bc224f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9dc2f52e694e4c" /><Relationship Type="http://schemas.openxmlformats.org/officeDocument/2006/relationships/notesSlide" Target="/ppt/notesSlides/notesSlide2.xml" Id="R132d5c7e22ba47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f7e412731746ec" /><Relationship Type="http://schemas.openxmlformats.org/officeDocument/2006/relationships/chart" Target="/ppt/slides/charts/chart1.xml" Id="Rd41a24dcda7846d1" /><Relationship Type="http://schemas.openxmlformats.org/officeDocument/2006/relationships/notesSlide" Target="/ppt/notesSlides/notesSlide3.xml" Id="R3edabc6a48da4b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56e390a3284aa8" /><Relationship Type="http://schemas.openxmlformats.org/officeDocument/2006/relationships/image" Target="/ppt/media/image.png" Id="Rc2a746c609c44116" /><Relationship Type="http://schemas.openxmlformats.org/officeDocument/2006/relationships/chart" Target="/ppt/slides/charts/chart2.xml" Id="R3a0551f794db4204" /><Relationship Type="http://schemas.openxmlformats.org/officeDocument/2006/relationships/notesSlide" Target="/ppt/notesSlides/notesSlide4.xml" Id="R86708658bada4f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84a68c19fd43d5" /><Relationship Type="http://schemas.openxmlformats.org/officeDocument/2006/relationships/image" Target="/ppt/media/image.png" Id="R069e6cc3b1d94b38" /><Relationship Type="http://schemas.openxmlformats.org/officeDocument/2006/relationships/notesSlide" Target="/ppt/notesSlides/notesSlide5.xml" Id="Reb98838755ee40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2136302c834323" /><Relationship Type="http://schemas.openxmlformats.org/officeDocument/2006/relationships/image" Target="/ppt/media/image.png" Id="R4fa6ff3c51034f24" /><Relationship Type="http://schemas.openxmlformats.org/officeDocument/2006/relationships/chart" Target="/ppt/slides/charts/chart3.xml" Id="Rb61a393c22724893" /><Relationship Type="http://schemas.openxmlformats.org/officeDocument/2006/relationships/chart" Target="/ppt/slides/charts/chart4.xml" Id="Rc7917638a8014a60" /><Relationship Type="http://schemas.openxmlformats.org/officeDocument/2006/relationships/chart" Target="/ppt/slides/charts/chart5.xml" Id="Rbbbf9d01ac274de5" /><Relationship Type="http://schemas.openxmlformats.org/officeDocument/2006/relationships/chart" Target="/ppt/slides/charts/chart6.xml" Id="R7f607558926d402a" /><Relationship Type="http://schemas.openxmlformats.org/officeDocument/2006/relationships/chart" Target="/ppt/slides/charts/chart7.xml" Id="R288b66df1fc249ac" /><Relationship Type="http://schemas.openxmlformats.org/officeDocument/2006/relationships/notesSlide" Target="/ppt/notesSlides/notesSlide6.xml" Id="R55b0af24b3fe4b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5898e8833314b48" /><Relationship Type="http://schemas.openxmlformats.org/officeDocument/2006/relationships/image" Target="/ppt/media/image.png" Id="R2b527bf1178240d3" /><Relationship Type="http://schemas.openxmlformats.org/officeDocument/2006/relationships/chart" Target="/ppt/slides/charts/chart8.xml" Id="R26e1700bbada4379" /><Relationship Type="http://schemas.openxmlformats.org/officeDocument/2006/relationships/notesSlide" Target="/ppt/notesSlides/notesSlide7.xml" Id="R6a5d8078277d44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e1fd02796b450e" /><Relationship Type="http://schemas.openxmlformats.org/officeDocument/2006/relationships/chart" Target="/ppt/slides/charts/chart9.xml" Id="R6cea821b44c24e7e" /><Relationship Type="http://schemas.openxmlformats.org/officeDocument/2006/relationships/notesSlide" Target="/ppt/notesSlides/notesSlide8.xml" Id="R1fd41c90e73140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d351da9354423b" /><Relationship Type="http://schemas.openxmlformats.org/officeDocument/2006/relationships/chart" Target="/ppt/slides/charts/chart10.xml" Id="R03b91db1737b4ddb" /><Relationship Type="http://schemas.openxmlformats.org/officeDocument/2006/relationships/notesSlide" Target="/ppt/notesSlides/notesSlide9.xml" Id="R52c4a7fbdafe44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Stores</c:v>
          </c:tx>
          <c:spPr>
            <a:solidFill xmlns:a="http://schemas.openxmlformats.org/drawingml/2006/main">
              <a:srgbClr val="2F6BFF"/>
            </a:solidFill>
          </c:spPr>
          <c:cat>
            <c:strRef>
              <c:f>'Chart Data'!$A$2:$A$11</c:f>
              <c:strCache>
                <c:ptCount val="10"/>
                <c:pt idx="0">
                  <c:v>Bengaluru</c:v>
                </c:pt>
                <c:pt idx="1">
                  <c:v>Chennai</c:v>
                </c:pt>
                <c:pt idx="2">
                  <c:v>Hyderabad</c:v>
                </c:pt>
                <c:pt idx="3">
                  <c:v>Coimbatore</c:v>
                </c:pt>
                <c:pt idx="4">
                  <c:v>Visakhapatnam</c:v>
                </c:pt>
                <c:pt idx="5">
                  <c:v>Madurai</c:v>
                </c:pt>
                <c:pt idx="6">
                  <c:v>Mysuru</c:v>
                </c:pt>
                <c:pt idx="7">
                  <c:v>Mangalore</c:v>
                </c:pt>
                <c:pt idx="8">
                  <c:v>Trivandrum</c:v>
                </c:pt>
                <c:pt idx="9">
                  <c:v>Vijayawada</c:v>
                </c:pt>
              </c:strCache>
            </c:strRef>
          </c:cat>
          <c:val>
            <c:numRef>
              <c:f>'Chart Data'!$B$2:$B$11</c:f>
              <c:numCache>
                <c:formatCode>General</c:formatCode>
                <c:ptCount val="10"/>
                <c:pt idx="0">
                  <c:v>10</c:v>
                </c:pt>
                <c:pt idx="1">
                  <c:v>8</c:v>
                </c:pt>
                <c:pt idx="2">
                  <c:v>7</c:v>
                </c:pt>
                <c:pt idx="3">
                  <c:v>5</c:v>
                </c:pt>
                <c:pt idx="4">
                  <c:v>5</c:v>
                </c:pt>
                <c:pt idx="5">
                  <c:v>4</c:v>
                </c:pt>
                <c:pt idx="6">
                  <c:v>4</c:v>
                </c:pt>
                <c:pt idx="7">
                  <c:v>3</c:v>
                </c:pt>
                <c:pt idx="8">
                  <c:v>2</c:v>
                </c:pt>
                <c:pt idx="9">
                  <c:v>2</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DE5EF"/>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579"/>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102A43"/>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doughnutChart>
        <c:ser>
          <c:idx val="0"/>
          <c:order val="0"/>
          <c:tx>
            <c:v>Units</c:v>
          </c:tx>
          <c:dPt>
            <c:idx val="0"/>
            <c:spPr>
              <a:solidFill xmlns:a="http://schemas.openxmlformats.org/drawingml/2006/main">
                <a:srgbClr val="2F6BFF"/>
              </a:solidFill>
            </c:spPr>
          </c:dPt>
          <c:dPt>
            <c:idx val="1"/>
            <c:spPr>
              <a:solidFill xmlns:a="http://schemas.openxmlformats.org/drawingml/2006/main">
                <a:srgbClr val="18A999"/>
              </a:solidFill>
            </c:spPr>
          </c:dPt>
          <c:dPt>
            <c:idx val="2"/>
            <c:spPr>
              <a:solidFill xmlns:a="http://schemas.openxmlformats.org/drawingml/2006/main">
                <a:srgbClr val="F28E2B"/>
              </a:solidFill>
            </c:spPr>
          </c:dPt>
          <c:dPt>
            <c:idx val="3"/>
            <c:spPr>
              <a:solidFill xmlns:a="http://schemas.openxmlformats.org/drawingml/2006/main">
                <a:srgbClr val="E5B94C"/>
              </a:solidFill>
            </c:spPr>
          </c:dPt>
          <c:dPt>
            <c:idx val="4"/>
            <c:spPr>
              <a:solidFill xmlns:a="http://schemas.openxmlformats.org/drawingml/2006/main">
                <a:srgbClr val="D95F59"/>
              </a:solidFill>
            </c:spPr>
          </c:dPt>
          <c:cat>
            <c:strRef>
              <c:f>'Chart Data'!$A$2:$A$6</c:f>
              <c:strCache>
                <c:ptCount val="5"/>
                <c:pt idx="0">
                  <c:v>Grocery &amp; Staples</c:v>
                </c:pt>
                <c:pt idx="1">
                  <c:v>Home Appliances</c:v>
                </c:pt>
                <c:pt idx="2">
                  <c:v>Home Care</c:v>
                </c:pt>
                <c:pt idx="3">
                  <c:v>Combo1</c:v>
                </c:pt>
                <c:pt idx="4">
                  <c:v>Personal Care</c:v>
                </c:pt>
              </c:strCache>
            </c:strRef>
          </c:cat>
          <c:val>
            <c:numRef>
              <c:f>'Chart Data'!$B$2:$B$6</c:f>
              <c:numCache>
                <c:formatCode>General</c:formatCode>
                <c:ptCount val="5"/>
                <c:pt idx="0">
                  <c:v>177724</c:v>
                </c:pt>
                <c:pt idx="1">
                  <c:v>35610</c:v>
                </c:pt>
                <c:pt idx="2">
                  <c:v>16894</c:v>
                </c:pt>
                <c:pt idx="3">
                  <c:v>12411</c:v>
                </c:pt>
                <c:pt idx="4">
                  <c:v>9430</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A43"/>
                  </a:solidFill>
                  <a:latin typeface="Arial"/>
                  <a:ea typeface="Arial"/>
                  <a:cs typeface="Arial"/>
                </a:defRPr>
              </a:pPr>
            </a:p>
          </c:txPr>
          <c:showLegendKey val="0"/>
          <c:showVal val="0"/>
          <c:showCatName val="0"/>
          <c:showSerName val="0"/>
          <c:showPercent val="1"/>
          <c:showBubbleSize val="0"/>
          <c:showLeaderLines val="1"/>
        </c:dLbls>
        <c:firstSliceAng val="270"/>
        <c:holeSize val="55"/>
      </c:doughnut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02A43"/>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Events</c:v>
          </c:tx>
          <c:spPr>
            <a:solidFill xmlns:a="http://schemas.openxmlformats.org/drawingml/2006/main">
              <a:srgbClr val="2F6BFF"/>
            </a:solidFill>
          </c:spPr>
          <c:cat>
            <c:strRef>
              <c:f>'Chart Data'!$A$2:$A$8</c:f>
              <c:strCache>
                <c:ptCount val="7"/>
                <c:pt idx="0">
                  <c:v>0-100</c:v>
                </c:pt>
                <c:pt idx="1">
                  <c:v>100-200</c:v>
                </c:pt>
                <c:pt idx="2">
                  <c:v>200-300</c:v>
                </c:pt>
                <c:pt idx="3">
                  <c:v>300-400</c:v>
                </c:pt>
                <c:pt idx="4">
                  <c:v>400-500</c:v>
                </c:pt>
                <c:pt idx="5">
                  <c:v>500-600</c:v>
                </c:pt>
                <c:pt idx="6">
                  <c:v>600-700</c:v>
                </c:pt>
              </c:strCache>
            </c:strRef>
          </c:cat>
          <c:val>
            <c:numRef>
              <c:f>'Chart Data'!$B$2:$B$8</c:f>
              <c:numCache>
                <c:formatCode>General</c:formatCode>
                <c:ptCount val="7"/>
                <c:pt idx="0">
                  <c:v>5</c:v>
                </c:pt>
                <c:pt idx="1">
                  <c:v>51</c:v>
                </c:pt>
                <c:pt idx="2">
                  <c:v>110</c:v>
                </c:pt>
                <c:pt idx="3">
                  <c:v>160</c:v>
                </c:pt>
                <c:pt idx="4">
                  <c:v>59</c:v>
                </c:pt>
                <c:pt idx="5">
                  <c:v>13</c:v>
                </c:pt>
                <c:pt idx="6">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E5EF"/>
            </a:solidFill>
            <a:prstDash val="solid"/>
          </a:ln>
        </c:spPr>
        <c:txPr>
          <a:bodyPr xmlns:a="http://schemas.openxmlformats.org/drawingml/2006/main" anchorCtr="1"/>
          <a:lstStyle xmlns:a="http://schemas.openxmlformats.org/drawingml/2006/main"/>
          <a:p xmlns:a="http://schemas.openxmlformats.org/drawingml/2006/main">
            <a:pPr>
              <a:defRPr sz="675">
                <a:solidFill>
                  <a:srgbClr val="526579"/>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Events</c:v>
          </c:tx>
          <c:spPr>
            <a:solidFill xmlns:a="http://schemas.openxmlformats.org/drawingml/2006/main">
              <a:srgbClr val="18A999"/>
            </a:solidFill>
          </c:spPr>
          <c:cat>
            <c:strRef>
              <c:f>'Chart Data'!$A$2:$A$8</c:f>
              <c:strCache>
                <c:ptCount val="7"/>
                <c:pt idx="0">
                  <c:v>0-100</c:v>
                </c:pt>
                <c:pt idx="1">
                  <c:v>100-200</c:v>
                </c:pt>
                <c:pt idx="2">
                  <c:v>200-300</c:v>
                </c:pt>
                <c:pt idx="3">
                  <c:v>300-400</c:v>
                </c:pt>
                <c:pt idx="4">
                  <c:v>400-500</c:v>
                </c:pt>
                <c:pt idx="5">
                  <c:v>500-600</c:v>
                </c:pt>
                <c:pt idx="6">
                  <c:v>600-700</c:v>
                </c:pt>
              </c:strCache>
            </c:strRef>
          </c:cat>
          <c:val>
            <c:numRef>
              <c:f>'Chart Data'!$B$2:$B$8</c:f>
              <c:numCache>
                <c:formatCode>General</c:formatCode>
                <c:ptCount val="7"/>
                <c:pt idx="0">
                  <c:v>18</c:v>
                </c:pt>
                <c:pt idx="1">
                  <c:v>36</c:v>
                </c:pt>
                <c:pt idx="2">
                  <c:v>11</c:v>
                </c:pt>
                <c:pt idx="3">
                  <c:v>24</c:v>
                </c:pt>
                <c:pt idx="4">
                  <c:v>11</c:v>
                </c:pt>
                <c:pt idx="5">
                  <c:v>0</c:v>
                </c:pt>
                <c:pt idx="6">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E5EF"/>
            </a:solidFill>
            <a:prstDash val="solid"/>
          </a:ln>
        </c:spPr>
        <c:txPr>
          <a:bodyPr xmlns:a="http://schemas.openxmlformats.org/drawingml/2006/main" anchorCtr="1"/>
          <a:lstStyle xmlns:a="http://schemas.openxmlformats.org/drawingml/2006/main"/>
          <a:p xmlns:a="http://schemas.openxmlformats.org/drawingml/2006/main">
            <a:pPr>
              <a:defRPr sz="675">
                <a:solidFill>
                  <a:srgbClr val="526579"/>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Events</c:v>
          </c:tx>
          <c:spPr>
            <a:solidFill xmlns:a="http://schemas.openxmlformats.org/drawingml/2006/main">
              <a:srgbClr val="18A999"/>
            </a:solidFill>
          </c:spPr>
          <c:cat>
            <c:strRef>
              <c:f>'Chart Data'!$A$2:$A$8</c:f>
              <c:strCache>
                <c:ptCount val="7"/>
                <c:pt idx="0">
                  <c:v>0-100</c:v>
                </c:pt>
                <c:pt idx="1">
                  <c:v>100-200</c:v>
                </c:pt>
                <c:pt idx="2">
                  <c:v>200-300</c:v>
                </c:pt>
                <c:pt idx="3">
                  <c:v>300-400</c:v>
                </c:pt>
                <c:pt idx="4">
                  <c:v>400-500</c:v>
                </c:pt>
                <c:pt idx="5">
                  <c:v>500-600</c:v>
                </c:pt>
                <c:pt idx="6">
                  <c:v>600-700</c:v>
                </c:pt>
              </c:strCache>
            </c:strRef>
          </c:cat>
          <c:val>
            <c:numRef>
              <c:f>'Chart Data'!$B$2:$B$8</c:f>
              <c:numCache>
                <c:formatCode>General</c:formatCode>
                <c:ptCount val="7"/>
                <c:pt idx="0">
                  <c:v>153</c:v>
                </c:pt>
                <c:pt idx="1">
                  <c:v>47</c:v>
                </c:pt>
                <c:pt idx="2">
                  <c:v>0</c:v>
                </c:pt>
                <c:pt idx="3">
                  <c:v>0</c:v>
                </c:pt>
                <c:pt idx="4">
                  <c:v>0</c:v>
                </c:pt>
                <c:pt idx="5">
                  <c:v>0</c:v>
                </c:pt>
                <c:pt idx="6">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E5EF"/>
            </a:solidFill>
            <a:prstDash val="solid"/>
          </a:ln>
        </c:spPr>
        <c:txPr>
          <a:bodyPr xmlns:a="http://schemas.openxmlformats.org/drawingml/2006/main" anchorCtr="1"/>
          <a:lstStyle xmlns:a="http://schemas.openxmlformats.org/drawingml/2006/main"/>
          <a:p xmlns:a="http://schemas.openxmlformats.org/drawingml/2006/main">
            <a:pPr>
              <a:defRPr sz="675">
                <a:solidFill>
                  <a:srgbClr val="526579"/>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Events</c:v>
          </c:tx>
          <c:spPr>
            <a:solidFill xmlns:a="http://schemas.openxmlformats.org/drawingml/2006/main">
              <a:srgbClr val="18A999"/>
            </a:solidFill>
          </c:spPr>
          <c:cat>
            <c:strRef>
              <c:f>'Chart Data'!$A$2:$A$8</c:f>
              <c:strCache>
                <c:ptCount val="7"/>
                <c:pt idx="0">
                  <c:v>0-100</c:v>
                </c:pt>
                <c:pt idx="1">
                  <c:v>100-200</c:v>
                </c:pt>
                <c:pt idx="2">
                  <c:v>200-300</c:v>
                </c:pt>
                <c:pt idx="3">
                  <c:v>300-400</c:v>
                </c:pt>
                <c:pt idx="4">
                  <c:v>400-500</c:v>
                </c:pt>
                <c:pt idx="5">
                  <c:v>500-600</c:v>
                </c:pt>
                <c:pt idx="6">
                  <c:v>600-700</c:v>
                </c:pt>
              </c:strCache>
            </c:strRef>
          </c:cat>
          <c:val>
            <c:numRef>
              <c:f>'Chart Data'!$B$2:$B$8</c:f>
              <c:numCache>
                <c:formatCode>General</c:formatCode>
                <c:ptCount val="7"/>
                <c:pt idx="0">
                  <c:v>342</c:v>
                </c:pt>
                <c:pt idx="1">
                  <c:v>58</c:v>
                </c:pt>
                <c:pt idx="2">
                  <c:v>0</c:v>
                </c:pt>
                <c:pt idx="3">
                  <c:v>0</c:v>
                </c:pt>
                <c:pt idx="4">
                  <c:v>0</c:v>
                </c:pt>
                <c:pt idx="5">
                  <c:v>0</c:v>
                </c:pt>
                <c:pt idx="6">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E5EF"/>
            </a:solidFill>
            <a:prstDash val="solid"/>
          </a:ln>
        </c:spPr>
        <c:txPr>
          <a:bodyPr xmlns:a="http://schemas.openxmlformats.org/drawingml/2006/main" anchorCtr="1"/>
          <a:lstStyle xmlns:a="http://schemas.openxmlformats.org/drawingml/2006/main"/>
          <a:p xmlns:a="http://schemas.openxmlformats.org/drawingml/2006/main">
            <a:pPr>
              <a:defRPr sz="675">
                <a:solidFill>
                  <a:srgbClr val="526579"/>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Events</c:v>
          </c:tx>
          <c:spPr>
            <a:solidFill xmlns:a="http://schemas.openxmlformats.org/drawingml/2006/main">
              <a:srgbClr val="18A999"/>
            </a:solidFill>
          </c:spPr>
          <c:cat>
            <c:strRef>
              <c:f>'Chart Data'!$A$2:$A$8</c:f>
              <c:strCache>
                <c:ptCount val="7"/>
                <c:pt idx="0">
                  <c:v>0-100</c:v>
                </c:pt>
                <c:pt idx="1">
                  <c:v>100-200</c:v>
                </c:pt>
                <c:pt idx="2">
                  <c:v>200-300</c:v>
                </c:pt>
                <c:pt idx="3">
                  <c:v>300-400</c:v>
                </c:pt>
                <c:pt idx="4">
                  <c:v>400-500</c:v>
                </c:pt>
                <c:pt idx="5">
                  <c:v>500-600</c:v>
                </c:pt>
                <c:pt idx="6">
                  <c:v>600-700</c:v>
                </c:pt>
              </c:strCache>
            </c:strRef>
          </c:cat>
          <c:val>
            <c:numRef>
              <c:f>'Chart Data'!$B$2:$B$8</c:f>
              <c:numCache>
                <c:formatCode>General</c:formatCode>
                <c:ptCount val="7"/>
                <c:pt idx="0">
                  <c:v>369</c:v>
                </c:pt>
                <c:pt idx="1">
                  <c:v>31</c:v>
                </c:pt>
                <c:pt idx="2">
                  <c:v>0</c:v>
                </c:pt>
                <c:pt idx="3">
                  <c:v>0</c:v>
                </c:pt>
                <c:pt idx="4">
                  <c:v>0</c:v>
                </c:pt>
                <c:pt idx="5">
                  <c:v>0</c:v>
                </c:pt>
                <c:pt idx="6">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E5EF"/>
            </a:solidFill>
            <a:prstDash val="solid"/>
          </a:ln>
        </c:spPr>
        <c:txPr>
          <a:bodyPr xmlns:a="http://schemas.openxmlformats.org/drawingml/2006/main" anchorCtr="1"/>
          <a:lstStyle xmlns:a="http://schemas.openxmlformats.org/drawingml/2006/main"/>
          <a:p xmlns:a="http://schemas.openxmlformats.org/drawingml/2006/main">
            <a:pPr>
              <a:defRPr sz="675">
                <a:solidFill>
                  <a:srgbClr val="526579"/>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ISU%</c:v>
          </c:tx>
          <c:spPr>
            <a:ln xmlns:a="http://schemas.openxmlformats.org/drawingml/2006/main" w="38100">
              <a:solidFill>
                <a:srgbClr val="2F6BFF"/>
              </a:solidFill>
              <a:prstDash val="solid"/>
            </a:ln>
          </c:spPr>
          <c:marker>
            <c:symbol val="circle"/>
            <c:size val="8"/>
            <c:spPr>
              <a:solidFill xmlns:a="http://schemas.openxmlformats.org/drawingml/2006/main">
                <a:srgbClr val="2F6BFF"/>
              </a:solidFill>
            </c:spPr>
          </c:marker>
          <c:cat>
            <c:strRef>
              <c:f>'Chart Data'!$A$2:$A$11</c:f>
              <c:strCache>
                <c:ptCount val="10"/>
                <c:pt idx="0">
                  <c:v>Visakhapatnam</c:v>
                </c:pt>
                <c:pt idx="1">
                  <c:v>Mangalore</c:v>
                </c:pt>
                <c:pt idx="2">
                  <c:v>Hyderabad</c:v>
                </c:pt>
                <c:pt idx="3">
                  <c:v>Mysuru</c:v>
                </c:pt>
                <c:pt idx="4">
                  <c:v>Trivandrum</c:v>
                </c:pt>
                <c:pt idx="5">
                  <c:v>Vijayawada</c:v>
                </c:pt>
                <c:pt idx="6">
                  <c:v>Chennai</c:v>
                </c:pt>
                <c:pt idx="7">
                  <c:v>Coimbatore</c:v>
                </c:pt>
                <c:pt idx="8">
                  <c:v>Bengaluru</c:v>
                </c:pt>
                <c:pt idx="9">
                  <c:v>Madurai</c:v>
                </c:pt>
              </c:strCache>
            </c:strRef>
          </c:cat>
          <c:val>
            <c:numRef>
              <c:f>'Chart Data'!$B$2:$B$11</c:f>
              <c:numCache>
                <c:formatCode>0.0"%"</c:formatCode>
                <c:ptCount val="10"/>
                <c:pt idx="0">
                  <c:v>99.07</c:v>
                </c:pt>
                <c:pt idx="1">
                  <c:v>100.28</c:v>
                </c:pt>
                <c:pt idx="2">
                  <c:v>102.12</c:v>
                </c:pt>
                <c:pt idx="3">
                  <c:v>105.86</c:v>
                </c:pt>
                <c:pt idx="4">
                  <c:v>108.23</c:v>
                </c:pt>
                <c:pt idx="5">
                  <c:v>109.67</c:v>
                </c:pt>
                <c:pt idx="6">
                  <c:v>112.52</c:v>
                </c:pt>
                <c:pt idx="7">
                  <c:v>113.74</c:v>
                </c:pt>
                <c:pt idx="8">
                  <c:v>114.7</c:v>
                </c:pt>
                <c:pt idx="9">
                  <c:v>121.28</c:v>
                </c:pt>
              </c:numCache>
            </c:numRef>
          </c:val>
          <c:smooth val="0"/>
        </c:ser>
        <c:dLbls>
          <c:txPr>
            <a:bodyPr xmlns:a="http://schemas.openxmlformats.org/drawingml/2006/main" anchorCtr="1"/>
            <a:lstStyle xmlns:a="http://schemas.openxmlformats.org/drawingml/2006/main"/>
            <a:p xmlns:a="http://schemas.openxmlformats.org/drawingml/2006/main">
              <a:pPr>
                <a:defRPr sz="750">
                  <a:solidFill>
                    <a:srgbClr val="102A43"/>
                  </a:solidFill>
                  <a:latin typeface="Arial"/>
                  <a:ea typeface="Arial"/>
                  <a:cs typeface="Arial"/>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DE5EF"/>
            </a:solidFill>
            <a:prstDash val="solid"/>
          </a:ln>
        </c:spPr>
        <c:txPr>
          <a:bodyPr xmlns:a="http://schemas.openxmlformats.org/drawingml/2006/main" anchorCtr="1"/>
          <a:lstStyle xmlns:a="http://schemas.openxmlformats.org/drawingml/2006/main"/>
          <a:p xmlns:a="http://schemas.openxmlformats.org/drawingml/2006/main">
            <a:pPr>
              <a:defRPr sz="825">
                <a:solidFill>
                  <a:srgbClr val="526579"/>
                </a:solidFill>
                <a:latin typeface="Arial"/>
                <a:ea typeface="Arial"/>
                <a:cs typeface="Arial"/>
              </a:defRPr>
            </a:pPr>
          </a:p>
        </c:txPr>
        <c:crossAx val="48672768"/>
      </c:catAx>
      <c:valAx>
        <c:axId val="48672768"/>
        <c:scaling>
          <c:orientation val="minMax"/>
          <c:max val="125"/>
          <c:min val="90"/>
        </c:scaling>
        <c:delete val="0"/>
        <c:axPos val="l"/>
        <c:majorGridlines>
          <c:spPr>
            <a:ln xmlns:a="http://schemas.openxmlformats.org/drawingml/2006/main" w="9525">
              <a:solidFill>
                <a:srgbClr val="DDE5EF"/>
              </a:solidFill>
              <a:prstDash val="solid"/>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579"/>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marker"/>
        <c:varyColors val="1"/>
        <c:ser>
          <c:idx val="0"/>
          <c:order val="0"/>
          <c:tx>
            <c:v>BOGOF</c:v>
          </c:tx>
          <c:spPr>
            <a:solidFill xmlns:a="http://schemas.openxmlformats.org/drawingml/2006/main">
              <a:srgbClr val="2F6BFF"/>
            </a:solidFill>
          </c:spPr>
          <c:marker>
            <c:symbol val="circle"/>
            <c:size val="13"/>
          </c:marker>
          <c:xVal>
            <c:numRef>
              <c:f>'Chart Data'!$A$2:$A$2</c:f>
              <c:numCache>
                <c:formatCode>General</c:formatCode>
                <c:ptCount val="1"/>
                <c:pt idx="0">
                  <c:v>24168</c:v>
                </c:pt>
              </c:numCache>
            </c:numRef>
          </c:xVal>
          <c:yVal>
            <c:numRef>
              <c:f>'Chart Data'!$B$2:$B$2</c:f>
              <c:numCache>
                <c:formatCode>General</c:formatCode>
                <c:ptCount val="1"/>
                <c:pt idx="0">
                  <c:v>3.18242</c:v>
                </c:pt>
              </c:numCache>
            </c:numRef>
          </c:yVal>
        </c:ser>
        <c:ser>
          <c:idx val="1"/>
          <c:order val="1"/>
          <c:tx>
            <c:v>500 Cashback</c:v>
          </c:tx>
          <c:spPr>
            <a:solidFill xmlns:a="http://schemas.openxmlformats.org/drawingml/2006/main">
              <a:srgbClr val="18A999"/>
            </a:solidFill>
          </c:spPr>
          <c:marker>
            <c:symbol val="diamond"/>
            <c:size val="13"/>
          </c:marker>
          <c:xVal>
            <c:numRef>
              <c:f>'Chart Data'!$C$2:$C$2</c:f>
              <c:numCache>
                <c:formatCode>General</c:formatCode>
                <c:ptCount val="1"/>
                <c:pt idx="0">
                  <c:v>5845</c:v>
                </c:pt>
              </c:numCache>
            </c:numRef>
          </c:xVal>
          <c:yVal>
            <c:numRef>
              <c:f>'Chart Data'!$D$2:$D$2</c:f>
              <c:numCache>
                <c:formatCode>General</c:formatCode>
                <c:ptCount val="1"/>
                <c:pt idx="0">
                  <c:v>12.8665</c:v>
                </c:pt>
              </c:numCache>
            </c:numRef>
          </c:yVal>
        </c:ser>
        <c:ser>
          <c:idx val="2"/>
          <c:order val="2"/>
          <c:tx>
            <c:v>33% OFF</c:v>
          </c:tx>
          <c:spPr>
            <a:solidFill xmlns:a="http://schemas.openxmlformats.org/drawingml/2006/main">
              <a:srgbClr val="E5B94C"/>
            </a:solidFill>
          </c:spPr>
          <c:marker>
            <c:symbol val="square"/>
            <c:size val="12"/>
          </c:marker>
          <c:xVal>
            <c:numRef>
              <c:f>'Chart Data'!$E$2:$E$2</c:f>
              <c:numCache>
                <c:formatCode>General</c:formatCode>
                <c:ptCount val="1"/>
                <c:pt idx="0">
                  <c:v>4700</c:v>
                </c:pt>
              </c:numCache>
            </c:numRef>
          </c:xVal>
          <c:yVal>
            <c:numRef>
              <c:f>'Chart Data'!$F$2:$F$2</c:f>
              <c:numCache>
                <c:formatCode>General</c:formatCode>
                <c:ptCount val="1"/>
                <c:pt idx="0">
                  <c:v>-0.179239</c:v>
                </c:pt>
              </c:numCache>
            </c:numRef>
          </c:yVal>
        </c:ser>
        <c:ser>
          <c:idx val="3"/>
          <c:order val="3"/>
          <c:tx>
            <c:v>50% OFF</c:v>
          </c:tx>
          <c:spPr>
            <a:solidFill xmlns:a="http://schemas.openxmlformats.org/drawingml/2006/main">
              <a:srgbClr val="F28E2B"/>
            </a:solidFill>
          </c:spPr>
          <c:marker>
            <c:symbol val="triangle"/>
            <c:size val="12"/>
          </c:marker>
          <c:xVal>
            <c:numRef>
              <c:f>'Chart Data'!$G$2:$G$2</c:f>
              <c:numCache>
                <c:formatCode>General</c:formatCode>
                <c:ptCount val="1"/>
                <c:pt idx="0">
                  <c:v>1291</c:v>
                </c:pt>
              </c:numCache>
            </c:numRef>
          </c:xVal>
          <c:yVal>
            <c:numRef>
              <c:f>'Chart Data'!$H$2:$H$2</c:f>
              <c:numCache>
                <c:formatCode>General</c:formatCode>
                <c:ptCount val="1"/>
                <c:pt idx="0">
                  <c:v>-0.115322</c:v>
                </c:pt>
              </c:numCache>
            </c:numRef>
          </c:yVal>
        </c:ser>
        <c:ser>
          <c:idx val="4"/>
          <c:order val="4"/>
          <c:tx>
            <c:v>25% OFF</c:v>
          </c:tx>
          <c:spPr>
            <a:solidFill xmlns:a="http://schemas.openxmlformats.org/drawingml/2006/main">
              <a:srgbClr val="D95F59"/>
            </a:solidFill>
          </c:spPr>
          <c:marker>
            <c:symbol val="x"/>
            <c:size val="12"/>
          </c:marker>
          <c:xVal>
            <c:numRef>
              <c:f>'Chart Data'!$I$2:$I$2</c:f>
              <c:numCache>
                <c:formatCode>General</c:formatCode>
                <c:ptCount val="1"/>
                <c:pt idx="0">
                  <c:v>-940</c:v>
                </c:pt>
              </c:numCache>
            </c:numRef>
          </c:xVal>
          <c:yVal>
            <c:numRef>
              <c:f>'Chart Data'!$J$2:$J$2</c:f>
              <c:numCache>
                <c:formatCode>General</c:formatCode>
                <c:ptCount val="1"/>
                <c:pt idx="0">
                  <c:v>-0.537943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2"/>
        </c:scaling>
        <c:delete val="0"/>
        <c:axPos val="l"/>
        <c:majorGridlines>
          <c:spPr>
            <a:ln xmlns:a="http://schemas.openxmlformats.org/drawingml/2006/main" w="9525">
              <a:solidFill>
                <a:srgbClr val="DDE5EF"/>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Incremental revenue,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26579"/>
                </a:solidFill>
                <a:latin typeface="Arial"/>
                <a:ea typeface="Arial"/>
                <a:cs typeface="Arial"/>
              </a:defRPr>
            </a:pPr>
          </a:p>
        </c:txPr>
        <c:crossAx val="48650112"/>
        <c:majorUnit val="2"/>
      </c:valAx>
      <c:valAx>
        <c:axId val="48650112"/>
        <c:scaling>
          <c:orientation val="minMax"/>
          <c:max val="27000"/>
          <c:min val="-3000"/>
        </c:scaling>
        <c:delete val="0"/>
        <c:axPos val="b"/>
        <c:majorGridlines>
          <c:spPr>
            <a:ln xmlns:a="http://schemas.openxmlformats.org/drawingml/2006/main" w="9525">
              <a:solidFill>
                <a:srgbClr val="DDE5EF"/>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Incremental sold units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26579"/>
                </a:solidFill>
                <a:latin typeface="Arial"/>
                <a:ea typeface="Arial"/>
                <a:cs typeface="Arial"/>
              </a:defRPr>
            </a:pPr>
          </a:p>
        </c:txPr>
        <c:crossAx val="48672768"/>
        <c:majorUnit val="50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02A43"/>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A9C3EA"/>
            </a:solidFill>
          </c:spPr>
          <c:cat>
            <c:strRef>
              <c:f>'Chart Data'!$A$2:$A$6</c:f>
              <c:strCache>
                <c:ptCount val="5"/>
                <c:pt idx="0">
                  <c:v>Combo1</c:v>
                </c:pt>
                <c:pt idx="1">
                  <c:v>Grocery &amp; Staples</c:v>
                </c:pt>
                <c:pt idx="2">
                  <c:v>Home Appliances</c:v>
                </c:pt>
                <c:pt idx="3">
                  <c:v>Home Care</c:v>
                </c:pt>
                <c:pt idx="4">
                  <c:v>Personal Care</c:v>
                </c:pt>
              </c:strCache>
            </c:strRef>
          </c:cat>
          <c:val>
            <c:numRef>
              <c:f>'Chart Data'!$B$2:$B$6</c:f>
              <c:numCache>
                <c:formatCode>General</c:formatCode>
                <c:ptCount val="5"/>
                <c:pt idx="0">
                  <c:v>15.777</c:v>
                </c:pt>
                <c:pt idx="1">
                  <c:v>12.26246</c:v>
                </c:pt>
                <c:pt idx="2">
                  <c:v>2.18881</c:v>
                </c:pt>
                <c:pt idx="3">
                  <c:v>2.10446</c:v>
                </c:pt>
                <c:pt idx="4">
                  <c:v>0.576321</c:v>
                </c:pt>
              </c:numCache>
            </c:numRef>
          </c:val>
        </c:ser>
        <c:ser>
          <c:idx val="1"/>
          <c:order val="1"/>
          <c:tx>
            <c:v>After</c:v>
          </c:tx>
          <c:spPr>
            <a:solidFill xmlns:a="http://schemas.openxmlformats.org/drawingml/2006/main">
              <a:srgbClr val="2F6BFF"/>
            </a:solidFill>
          </c:spPr>
          <c:cat>
            <c:strRef>
              <c:f>'Chart Data'!$C$2:$C$6</c:f>
              <c:strCache>
                <c:ptCount val="5"/>
                <c:pt idx="0">
                  <c:v>Combo1</c:v>
                </c:pt>
                <c:pt idx="1">
                  <c:v>Grocery &amp; Staples</c:v>
                </c:pt>
                <c:pt idx="2">
                  <c:v>Home Appliances</c:v>
                </c:pt>
                <c:pt idx="3">
                  <c:v>Home Care</c:v>
                </c:pt>
                <c:pt idx="4">
                  <c:v>Personal Care</c:v>
                </c:pt>
              </c:strCache>
            </c:strRef>
          </c:cat>
          <c:val>
            <c:numRef>
              <c:f>'Chart Data'!$D$2:$D$6</c:f>
              <c:numCache>
                <c:formatCode>General</c:formatCode>
                <c:ptCount val="5"/>
                <c:pt idx="0">
                  <c:v>38.125</c:v>
                </c:pt>
                <c:pt idx="1">
                  <c:v>13.861259</c:v>
                </c:pt>
                <c:pt idx="2">
                  <c:v>4.12268</c:v>
                </c:pt>
                <c:pt idx="3">
                  <c:v>3.18002</c:v>
                </c:pt>
                <c:pt idx="4">
                  <c:v>0.389629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E5EF"/>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579"/>
                </a:solidFill>
                <a:latin typeface="Arial"/>
                <a:ea typeface="Arial"/>
                <a:cs typeface="Arial"/>
              </a:defRPr>
            </a:pPr>
          </a:p>
        </c:txPr>
        <c:crossAx val="48672768"/>
      </c:catAx>
      <c:valAx>
        <c:axId val="48672768"/>
        <c:scaling>
          <c:orientation val="minMax"/>
          <c:max val="42"/>
          <c:min val="0"/>
        </c:scaling>
        <c:delete val="0"/>
        <c:axPos val="l"/>
        <c:majorGridlines>
          <c:spPr>
            <a:ln xmlns:a="http://schemas.openxmlformats.org/drawingml/2006/main" w="9525">
              <a:solidFill>
                <a:srgbClr val="DDE5EF"/>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Revenue,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579"/>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02A43"/>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564079" y="2031642"/>
            <a:ext cx="11063842" cy="2491490"/>
          </a:xfrm>
        </p:spPr>
        <p:txBody>
          <a:bodyPr xmlns:a="http://schemas.openxmlformats.org/drawingml/2006/main" anchor="ctr">
            <a:noAutofit/>
          </a:bodyPr>
          <a:lstStyle xmlns:a="http://schemas.openxmlformats.org/drawingml/2006/main"/>
          <a:p xmlns:a="http://schemas.openxmlformats.org/drawingml/2006/main">
            <a:pPr algn="ctr">
              <a:buNone/>
            </a:pPr>
            <a:r>
              <a:rPr sz="7200">
                <a:latin typeface="Lora"/>
                <a:ea typeface="Lora"/>
                <a:cs typeface="Lora"/>
              </a:rPr>
              <a:t/>
            </a:r>
          </a:p>
        </p:txBody>
      </p:sp>
      <p:sp>
        <p:nvSpPr>
          <p:cNvPr id="13" name="Subtitle 12">
            <a:extLst xmlns:a="http://schemas.openxmlformats.org/drawingml/2006/main">
              <a:ext uri="{FF2B5EF4-FFF2-40B4-BE49-F238E27FC236}">
                <a16:creationId xmlns:a16="http://schemas.microsoft.com/office/drawing/2014/main" id="{8063C0C5-ECDE-60AC-E3F5-DA7ED369D661}"/>
              </a:ext>
            </a:extLst>
          </p:cNvPr>
          <p:cNvSpPr>
            <a:spLocks xmlns:a="http://schemas.openxmlformats.org/drawingml/2006/main" noGrp="1"/>
          </p:cNvSpPr>
          <p:nvPr>
            <p:ph type="subTitle" idx="1"/>
          </p:nvPr>
        </p:nvSpPr>
        <p:spPr>
          <a:xfrm xmlns:a="http://schemas.openxmlformats.org/drawingml/2006/main">
            <a:off x="2398999" y="5045149"/>
            <a:ext cx="7394002" cy="794439"/>
          </a:xfrm>
        </p:spPr>
        <p:txBody>
          <a:bodyPr xmlns:a="http://schemas.openxmlformats.org/drawingml/2006/main">
            <a:normAutofit/>
          </a:bodyPr>
          <a:lstStyle xmlns:a="http://schemas.openxmlformats.org/drawingml/2006/main"/>
          <a:p xmlns:a="http://schemas.openxmlformats.org/drawingml/2006/main">
            <a:pPr algn="ctr">
              <a:buNone/>
            </a:pPr>
            <a:r>
              <a:rPr sz="1800">
                <a:solidFill>
                  <a:schemeClr val="bg1">
                    <a:lumMod val="65000"/>
                    <a:lumOff val="35000"/>
                  </a:schemeClr>
                </a:solidFill>
              </a:rPr>
              <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244850" y="1352742"/>
            <a:ext cx="5702300" cy="36179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000">
                <a:solidFill>
                  <a:srgbClr val="FF4709"/>
                </a:solidFill>
                <a:latin typeface="Roboto"/>
                <a:ea typeface="Roboto"/>
                <a:cs typeface="Roboto"/>
              </a:rPr>
              <a:t/>
            </a:r>
          </a:p>
        </p:txBody>
      </p:sp>
      <p:sp>
        <p:nvSpPr>
          <p:cNvPr id="14" name="">
            <a:extLst xmlns:a="http://schemas.openxmlformats.org/drawingml/2006/main">
              <a:ext uri="{FF2B5EF4-FFF2-40B4-BE49-F238E27FC236}">
                <a16:creationId xmlns:a16="http://schemas.microsoft.com/office/drawing/2014/main" id="{633BA790-5F3C-42B6-9A3F-1C778DA6CEFF}"/>
              </a:ext>
            </a:extLst>
          </p:cNvPr>
          <p:cNvSpPr>
            <a:spLocks xmlns:a="http://schemas.openxmlformats.org/drawingml/2006/main" noGrp="1"/>
          </p:cNvSpPr>
          <p:nvPr/>
        </p:nvSpPr>
        <p:spPr>
          <a:xfrm xmlns:a="http://schemas.openxmlformats.org/drawingml/2006/main">
            <a:off x="3219450" y="1123950"/>
            <a:ext cx="575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8FB4FF"/>
                </a:solidFill>
                <a:latin typeface="Arial"/>
                <a:ea typeface="Arial"/>
                <a:cs typeface="Arial"/>
              </a:defRPr>
            </a:pPr>
            <a:r>
              <a:rPr sz="1350" b="1">
                <a:solidFill>
                  <a:srgbClr val="8FB4FF"/>
                </a:solidFill>
                <a:latin typeface="Arial"/>
                <a:ea typeface="Arial"/>
                <a:cs typeface="Arial"/>
              </a:rPr>
              <a:t>RETAIL PROMOTIONS</a:t>
            </a:r>
          </a:p>
        </p:txBody>
      </p:sp>
      <p:sp>
        <p:nvSpPr>
          <p:cNvPr id="15" name="">
            <a:extLst xmlns:a="http://schemas.openxmlformats.org/drawingml/2006/main">
              <a:ext uri="{FF2B5EF4-FFF2-40B4-BE49-F238E27FC236}">
                <a16:creationId xmlns:a16="http://schemas.microsoft.com/office/drawing/2014/main" id="{2AB53353-6396-4A38-86E2-8A2B450651E1}"/>
              </a:ext>
            </a:extLst>
          </p:cNvPr>
          <p:cNvSpPr>
            <a:spLocks xmlns:a="http://schemas.openxmlformats.org/drawingml/2006/main" noGrp="1"/>
          </p:cNvSpPr>
          <p:nvPr/>
        </p:nvSpPr>
        <p:spPr>
          <a:xfrm xmlns:a="http://schemas.openxmlformats.org/drawingml/2006/main">
            <a:off x="1238250" y="1952625"/>
            <a:ext cx="9715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050" b="1">
                <a:solidFill>
                  <a:srgbClr val="FFFFFF"/>
                </a:solidFill>
                <a:latin typeface="Arial"/>
                <a:ea typeface="Arial"/>
                <a:cs typeface="Arial"/>
              </a:defRPr>
            </a:pPr>
            <a:r>
              <a:rPr sz="4050" b="1">
                <a:solidFill>
                  <a:srgbClr val="FFFFFF"/>
                </a:solidFill>
                <a:latin typeface="Arial"/>
                <a:ea typeface="Arial"/>
                <a:cs typeface="Arial"/>
              </a:rPr>
              <a:t>Sales performance</a:t>
            </a:r>
          </a:p>
          <a:p xmlns:a="http://schemas.openxmlformats.org/drawingml/2006/main">
            <a:pPr algn="ctr">
              <a:defRPr sz="4050" b="1">
                <a:solidFill>
                  <a:srgbClr val="FFFFFF"/>
                </a:solidFill>
                <a:latin typeface="Arial"/>
                <a:ea typeface="Arial"/>
                <a:cs typeface="Arial"/>
              </a:defRPr>
            </a:pPr>
            <a:r>
              <a:rPr sz="4050" b="1">
                <a:solidFill>
                  <a:srgbClr val="FFFFFF"/>
                </a:solidFill>
                <a:latin typeface="Arial"/>
                <a:ea typeface="Arial"/>
                <a:cs typeface="Arial"/>
              </a:rPr>
              <a:t>before and after promotion</a:t>
            </a:r>
          </a:p>
        </p:txBody>
      </p:sp>
      <p:sp>
        <p:nvSpPr>
          <p:cNvPr id="16" name="">
            <a:extLst xmlns:a="http://schemas.openxmlformats.org/drawingml/2006/main">
              <a:ext uri="{FF2B5EF4-FFF2-40B4-BE49-F238E27FC236}">
                <a16:creationId xmlns:a16="http://schemas.microsoft.com/office/drawing/2014/main" id="{0C8B4FF1-3AB7-4459-8F82-590CDB5E2A02}"/>
              </a:ext>
            </a:extLst>
          </p:cNvPr>
          <p:cNvSpPr>
            <a:spLocks xmlns:a="http://schemas.openxmlformats.org/drawingml/2006/main" noGrp="1"/>
          </p:cNvSpPr>
          <p:nvPr/>
        </p:nvSpPr>
        <p:spPr>
          <a:xfrm xmlns:a="http://schemas.openxmlformats.org/drawingml/2006/main">
            <a:off x="3095625" y="4762500"/>
            <a:ext cx="600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a:solidFill>
                  <a:srgbClr val="D7E3F4"/>
                </a:solidFill>
                <a:latin typeface="Arial"/>
                <a:ea typeface="Arial"/>
                <a:cs typeface="Arial"/>
              </a:defRPr>
            </a:pPr>
            <a:r>
              <a:rPr sz="1725" b="0">
                <a:solidFill>
                  <a:srgbClr val="D7E3F4"/>
                </a:solidFill>
                <a:latin typeface="Arial"/>
                <a:ea typeface="Arial"/>
                <a:cs typeface="Arial"/>
              </a:rPr>
              <a:t>Client insight presentation</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
            </a: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69ADA83D-DF77-AA76-6DA0-7A70CD7A4D20}" type="slidenum">
              <a:rPr>
                <a:solidFill>
                  <a:schemeClr val="bg1">
                    <a:lumMod val="65000"/>
                    <a:lumOff val="35000"/>
                  </a:schemeClr>
                </a:solidFill>
              </a:rPr>
              <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1580202" y="1553822"/>
            <a:ext cx="9031596" cy="1262107"/>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lgn="ctr">
              <a:buNone/>
            </a:pPr>
            <a:r>
              <a:rPr sz="3600"/>
              <a:t/>
            </a:r>
          </a:p>
        </p:txBody>
      </p:sp>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4294967295"/>
          </p:nvPr>
        </p:nvSpPr>
        <p:spPr>
          <a:xfrm xmlns:a="http://schemas.openxmlformats.org/drawingml/2006/main">
            <a:off x="2147257" y="3329711"/>
            <a:ext cx="7897486" cy="2616365"/>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gn="ctr">
              <a:lnSpc>
                <a:spcPct val="114000"/>
              </a:lnSpc>
              <a:spcBef>
                <a:spcPts val="0"/>
              </a:spcBef>
              <a:spcAft>
                <a:spcPts val="1500"/>
              </a:spcAft>
              <a:buNone/>
            </a:pPr>
            <a:r>
              <a:rPr sz="1800"/>
              <a:t/>
            </a:r>
          </a:p>
        </p:txBody>
      </p:sp>
      <p:sp>
        <p:nvSpPr>
          <p:cNvPr id="3" name="Subtitle 4">
            <a:extLst xmlns:a="http://schemas.openxmlformats.org/drawingml/2006/main">
              <a:ext uri="{FF2B5EF4-FFF2-40B4-BE49-F238E27FC236}">
                <a16:creationId xmlns:a16="http://schemas.microsoft.com/office/drawing/2014/main" id="{3E4FFF9D-7D5C-DB8C-D20B-817FA574842E}"/>
              </a:ext>
            </a:extLst>
          </p:cNvPr>
          <p:cNvSpPr>
            <a:spLocks xmlns:a="http://schemas.openxmlformats.org/drawingml/2006/main" noGrp="1"/>
          </p:cNvSpPr>
          <p:nvPr/>
        </p:nvSpPr>
        <p:spPr>
          <a:xfrm xmlns:a="http://schemas.openxmlformats.org/drawingml/2006/main">
            <a:off x="3244850" y="1001877"/>
            <a:ext cx="5702300" cy="36179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000">
                <a:solidFill>
                  <a:schemeClr val="bg1">
                    <a:lumMod val="65000"/>
                    <a:lumOff val="35000"/>
                  </a:schemeClr>
                </a:solidFill>
                <a:latin typeface="Roboto"/>
                <a:ea typeface="Roboto"/>
                <a:cs typeface="Roboto"/>
              </a:rPr>
              <a:t/>
            </a:r>
          </a:p>
        </p:txBody>
      </p:sp>
      <p:sp>
        <p:nvSpPr>
          <p:cNvPr id="535" name="">
            <a:extLst xmlns:a="http://schemas.openxmlformats.org/drawingml/2006/main">
              <a:ext uri="{FF2B5EF4-FFF2-40B4-BE49-F238E27FC236}">
                <a16:creationId xmlns:a16="http://schemas.microsoft.com/office/drawing/2014/main" id="{B512C6ED-D1AB-4C9E-9689-150751952C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536" name="">
            <a:extLst xmlns:a="http://schemas.openxmlformats.org/drawingml/2006/main">
              <a:ext uri="{FF2B5EF4-FFF2-40B4-BE49-F238E27FC236}">
                <a16:creationId xmlns:a16="http://schemas.microsoft.com/office/drawing/2014/main" id="{64360F1D-4497-4417-B80C-F9C455907A99}"/>
              </a:ext>
            </a:extLst>
          </p:cNvPr>
          <p:cNvSpPr>
            <a:spLocks xmlns:a="http://schemas.openxmlformats.org/drawingml/2006/main" noGrp="1"/>
          </p:cNvSpPr>
          <p:nvPr/>
        </p:nvSpPr>
        <p:spPr>
          <a:xfrm xmlns:a="http://schemas.openxmlformats.org/drawingml/2006/main">
            <a:off x="457200" y="3048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Three findings shape the promotion strategy</a:t>
            </a:r>
          </a:p>
        </p:txBody>
      </p:sp>
      <p:sp>
        <p:nvSpPr>
          <p:cNvPr id="537" name="">
            <a:extLst xmlns:a="http://schemas.openxmlformats.org/drawingml/2006/main">
              <a:ext uri="{FF2B5EF4-FFF2-40B4-BE49-F238E27FC236}">
                <a16:creationId xmlns:a16="http://schemas.microsoft.com/office/drawing/2014/main" id="{6538F995-CF6B-4164-8FD4-D37A491D2EE1}"/>
              </a:ext>
            </a:extLst>
          </p:cNvPr>
          <p:cNvSpPr>
            <a:spLocks xmlns:a="http://schemas.openxmlformats.org/drawingml/2006/main" noGrp="1"/>
          </p:cNvSpPr>
          <p:nvPr/>
        </p:nvSpPr>
        <p:spPr>
          <a:xfrm xmlns:a="http://schemas.openxmlformats.org/drawingml/2006/main">
            <a:off x="476250" y="923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Results aggregate 1,500 promotional events across 50 stores</a:t>
            </a:r>
          </a:p>
        </p:txBody>
      </p:sp>
      <p:sp>
        <p:nvSpPr>
          <p:cNvPr id="538" name="">
            <a:extLst xmlns:a="http://schemas.openxmlformats.org/drawingml/2006/main">
              <a:ext uri="{FF2B5EF4-FFF2-40B4-BE49-F238E27FC236}">
                <a16:creationId xmlns:a16="http://schemas.microsoft.com/office/drawing/2014/main" id="{6F722043-AA1B-4552-8482-A868EB3E0D90}"/>
              </a:ext>
            </a:extLst>
          </p:cNvPr>
          <p:cNvSpPr>
            <a:spLocks xmlns:a="http://schemas.openxmlformats.org/drawingml/2006/main" noGrp="1"/>
          </p:cNvSpPr>
          <p:nvPr/>
        </p:nvSpPr>
        <p:spPr>
          <a:xfrm xmlns:a="http://schemas.openxmlformats.org/drawingml/2006/main">
            <a:off x="619125" y="233362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2F6BFF"/>
                </a:solidFill>
                <a:latin typeface="Arial"/>
                <a:ea typeface="Arial"/>
                <a:cs typeface="Arial"/>
              </a:defRPr>
            </a:pPr>
            <a:r>
              <a:rPr sz="3600" b="1">
                <a:solidFill>
                  <a:srgbClr val="2F6BFF"/>
                </a:solidFill>
                <a:latin typeface="Arial"/>
                <a:ea typeface="Arial"/>
                <a:cs typeface="Arial"/>
              </a:rPr>
              <a:t>70.51%</a:t>
            </a:r>
          </a:p>
        </p:txBody>
      </p:sp>
      <p:sp>
        <p:nvSpPr>
          <p:cNvPr id="539" name="">
            <a:extLst xmlns:a="http://schemas.openxmlformats.org/drawingml/2006/main">
              <a:ext uri="{FF2B5EF4-FFF2-40B4-BE49-F238E27FC236}">
                <a16:creationId xmlns:a16="http://schemas.microsoft.com/office/drawing/2014/main" id="{6705FDD1-DC4E-431B-8084-E05D624D87FF}"/>
              </a:ext>
            </a:extLst>
          </p:cNvPr>
          <p:cNvSpPr>
            <a:spLocks xmlns:a="http://schemas.openxmlformats.org/drawingml/2006/main" noGrp="1"/>
          </p:cNvSpPr>
          <p:nvPr/>
        </p:nvSpPr>
        <p:spPr>
          <a:xfrm xmlns:a="http://schemas.openxmlformats.org/drawingml/2006/main">
            <a:off x="666750" y="328612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02A43"/>
                </a:solidFill>
                <a:latin typeface="Arial"/>
                <a:ea typeface="Arial"/>
                <a:cs typeface="Arial"/>
              </a:defRPr>
            </a:pPr>
            <a:r>
              <a:rPr sz="1500" b="0">
                <a:solidFill>
                  <a:srgbClr val="102A43"/>
                </a:solidFill>
                <a:latin typeface="Arial"/>
                <a:ea typeface="Arial"/>
                <a:cs typeface="Arial"/>
              </a:rPr>
              <a:t>of Sankranti post-promotion units came from Grocery &amp; Staples</a:t>
            </a:r>
          </a:p>
        </p:txBody>
      </p:sp>
      <p:sp>
        <p:nvSpPr>
          <p:cNvPr id="540" name="">
            <a:extLst xmlns:a="http://schemas.openxmlformats.org/drawingml/2006/main">
              <a:ext uri="{FF2B5EF4-FFF2-40B4-BE49-F238E27FC236}">
                <a16:creationId xmlns:a16="http://schemas.microsoft.com/office/drawing/2014/main" id="{125A3E6E-93C8-46E4-908B-842DB78511C2}"/>
              </a:ext>
            </a:extLst>
          </p:cNvPr>
          <p:cNvSpPr>
            <a:spLocks xmlns:a="http://schemas.openxmlformats.org/drawingml/2006/main" noGrp="1"/>
          </p:cNvSpPr>
          <p:nvPr/>
        </p:nvSpPr>
        <p:spPr>
          <a:xfrm xmlns:a="http://schemas.openxmlformats.org/drawingml/2006/main">
            <a:off x="4667250" y="233362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18A999"/>
                </a:solidFill>
                <a:latin typeface="Arial"/>
                <a:ea typeface="Arial"/>
                <a:cs typeface="Arial"/>
              </a:defRPr>
            </a:pPr>
            <a:r>
              <a:rPr sz="3600" b="1">
                <a:solidFill>
                  <a:srgbClr val="18A999"/>
                </a:solidFill>
                <a:latin typeface="Arial"/>
                <a:ea typeface="Arial"/>
                <a:cs typeface="Arial"/>
              </a:rPr>
              <a:t>121.28%</a:t>
            </a:r>
          </a:p>
        </p:txBody>
      </p:sp>
      <p:sp>
        <p:nvSpPr>
          <p:cNvPr id="541" name="">
            <a:extLst xmlns:a="http://schemas.openxmlformats.org/drawingml/2006/main">
              <a:ext uri="{FF2B5EF4-FFF2-40B4-BE49-F238E27FC236}">
                <a16:creationId xmlns:a16="http://schemas.microsoft.com/office/drawing/2014/main" id="{F8BE494C-2EE0-415E-A8BD-87254B35F898}"/>
              </a:ext>
            </a:extLst>
          </p:cNvPr>
          <p:cNvSpPr>
            <a:spLocks xmlns:a="http://schemas.openxmlformats.org/drawingml/2006/main" noGrp="1"/>
          </p:cNvSpPr>
          <p:nvPr/>
        </p:nvSpPr>
        <p:spPr>
          <a:xfrm xmlns:a="http://schemas.openxmlformats.org/drawingml/2006/main">
            <a:off x="4714875" y="328612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02A43"/>
                </a:solidFill>
                <a:latin typeface="Arial"/>
                <a:ea typeface="Arial"/>
                <a:cs typeface="Arial"/>
              </a:defRPr>
            </a:pPr>
            <a:r>
              <a:rPr sz="1500" b="0">
                <a:solidFill>
                  <a:srgbClr val="102A43"/>
                </a:solidFill>
                <a:latin typeface="Arial"/>
                <a:ea typeface="Arial"/>
                <a:cs typeface="Arial"/>
              </a:rPr>
              <a:t>Madurai recorded the highest city-level increase in sold units</a:t>
            </a:r>
          </a:p>
        </p:txBody>
      </p:sp>
      <p:sp>
        <p:nvSpPr>
          <p:cNvPr id="542" name="">
            <a:extLst xmlns:a="http://schemas.openxmlformats.org/drawingml/2006/main">
              <a:ext uri="{FF2B5EF4-FFF2-40B4-BE49-F238E27FC236}">
                <a16:creationId xmlns:a16="http://schemas.microsoft.com/office/drawing/2014/main" id="{74171A5A-300B-4ABA-AD5F-FF509F7956D8}"/>
              </a:ext>
            </a:extLst>
          </p:cNvPr>
          <p:cNvSpPr>
            <a:spLocks xmlns:a="http://schemas.openxmlformats.org/drawingml/2006/main" noGrp="1"/>
          </p:cNvSpPr>
          <p:nvPr/>
        </p:nvSpPr>
        <p:spPr>
          <a:xfrm xmlns:a="http://schemas.openxmlformats.org/drawingml/2006/main">
            <a:off x="8715375" y="233362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F28E2B"/>
                </a:solidFill>
                <a:latin typeface="Arial"/>
                <a:ea typeface="Arial"/>
                <a:cs typeface="Arial"/>
              </a:defRPr>
            </a:pPr>
            <a:r>
              <a:rPr sz="3600" b="1">
                <a:solidFill>
                  <a:srgbClr val="F28E2B"/>
                </a:solidFill>
                <a:latin typeface="Arial"/>
                <a:ea typeface="Arial"/>
                <a:cs typeface="Arial"/>
              </a:rPr>
              <a:t>81.34%</a:t>
            </a:r>
          </a:p>
        </p:txBody>
      </p:sp>
      <p:sp>
        <p:nvSpPr>
          <p:cNvPr id="543" name="">
            <a:extLst xmlns:a="http://schemas.openxmlformats.org/drawingml/2006/main">
              <a:ext uri="{FF2B5EF4-FFF2-40B4-BE49-F238E27FC236}">
                <a16:creationId xmlns:a16="http://schemas.microsoft.com/office/drawing/2014/main" id="{E7215F83-8D0A-4AD6-85F0-5F1F5F398495}"/>
              </a:ext>
            </a:extLst>
          </p:cNvPr>
          <p:cNvSpPr>
            <a:spLocks xmlns:a="http://schemas.openxmlformats.org/drawingml/2006/main" noGrp="1"/>
          </p:cNvSpPr>
          <p:nvPr/>
        </p:nvSpPr>
        <p:spPr>
          <a:xfrm xmlns:a="http://schemas.openxmlformats.org/drawingml/2006/main">
            <a:off x="8763000" y="3286125"/>
            <a:ext cx="2714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02A43"/>
                </a:solidFill>
                <a:latin typeface="Arial"/>
                <a:ea typeface="Arial"/>
                <a:cs typeface="Arial"/>
              </a:defRPr>
            </a:pPr>
            <a:r>
              <a:rPr sz="1500" b="0">
                <a:solidFill>
                  <a:srgbClr val="102A43"/>
                </a:solidFill>
                <a:latin typeface="Arial"/>
                <a:ea typeface="Arial"/>
                <a:cs typeface="Arial"/>
              </a:rPr>
              <a:t>increase in Bengaluru revenue after promotions</a:t>
            </a:r>
          </a:p>
        </p:txBody>
      </p:sp>
      <p:sp>
        <p:nvSpPr>
          <p:cNvPr id="544" name="">
            <a:extLst xmlns:a="http://schemas.openxmlformats.org/drawingml/2006/main">
              <a:ext uri="{FF2B5EF4-FFF2-40B4-BE49-F238E27FC236}">
                <a16:creationId xmlns:a16="http://schemas.microsoft.com/office/drawing/2014/main" id="{8CC3B95E-D527-402E-8710-9889375F9894}"/>
              </a:ext>
            </a:extLst>
          </p:cNvPr>
          <p:cNvSpPr>
            <a:spLocks xmlns:a="http://schemas.openxmlformats.org/drawingml/2006/main" noGrp="1"/>
          </p:cNvSpPr>
          <p:nvPr/>
        </p:nvSpPr>
        <p:spPr>
          <a:xfrm xmlns:a="http://schemas.openxmlformats.org/drawingml/2006/main">
            <a:off x="457200" y="6496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26579"/>
                </a:solidFill>
                <a:latin typeface="Arial"/>
                <a:ea typeface="Arial"/>
                <a:cs typeface="Arial"/>
              </a:defRPr>
            </a:pPr>
            <a:r>
              <a:rPr sz="900" b="0">
                <a:solidFill>
                  <a:srgbClr val="526579"/>
                </a:solidFill>
                <a:latin typeface="Arial"/>
                <a:ea typeface="Arial"/>
                <a:cs typeface="Arial"/>
              </a:rPr>
              <a:t>Retail Promotions Analysis</a:t>
            </a:r>
          </a:p>
        </p:txBody>
      </p:sp>
      <p:sp>
        <p:nvSpPr>
          <p:cNvPr id="545" name="">
            <a:extLst xmlns:a="http://schemas.openxmlformats.org/drawingml/2006/main">
              <a:ext uri="{FF2B5EF4-FFF2-40B4-BE49-F238E27FC236}">
                <a16:creationId xmlns:a16="http://schemas.microsoft.com/office/drawing/2014/main" id="{DD191269-B1DB-413C-87CC-933156A77F2A}"/>
              </a:ext>
            </a:extLst>
          </p:cNvPr>
          <p:cNvSpPr>
            <a:spLocks xmlns:a="http://schemas.openxmlformats.org/drawingml/2006/main" noGrp="1"/>
          </p:cNvSpPr>
          <p:nvPr/>
        </p:nvSpPr>
        <p:spPr>
          <a:xfrm xmlns:a="http://schemas.openxmlformats.org/drawingml/2006/main">
            <a:off x="11191875"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26579"/>
                </a:solidFill>
                <a:latin typeface="Arial"/>
                <a:ea typeface="Arial"/>
                <a:cs typeface="Arial"/>
              </a:defRPr>
            </a:pPr>
            <a:r>
              <a:rPr sz="900" b="0">
                <a:solidFill>
                  <a:srgbClr val="526579"/>
                </a:solidFill>
                <a:latin typeface="Arial"/>
                <a:ea typeface="Arial"/>
                <a:cs typeface="Arial"/>
              </a:rPr>
              <a:t>2</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69ADA83D-DF77-AA76-6DA0-7A70CD7A4D20}" type="slidenum">
              <a:rPr>
                <a:solidFill>
                  <a:schemeClr val="bg1">
                    <a:lumMod val="65000"/>
                    <a:lumOff val="35000"/>
                  </a:schemeClr>
                </a:solidFill>
              </a:rPr>
              <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531203"/>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1150259"/>
            <a:ext cx="6308042" cy="139700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solidFill>
                  <a:schemeClr val="bg1">
                    <a:lumMod val="65000"/>
                    <a:lumOff val="35000"/>
                  </a:schemeClr>
                </a:solidFill>
              </a:rPr>
              <a:t/>
            </a:r>
          </a:p>
        </p:txBody>
      </p:sp>
      <p:sp>
        <p:nvSpPr>
          <p:cNvPr id="11" name="Content Placeholder 9">
            <a:extLst xmlns:a="http://schemas.openxmlformats.org/drawingml/2006/main">
              <a:ext uri="{FF2B5EF4-FFF2-40B4-BE49-F238E27FC236}">
                <a16:creationId xmlns:a16="http://schemas.microsoft.com/office/drawing/2014/main" id="{71D2425F-989C-9570-E60C-C4CFCBC5F4C1}"/>
              </a:ext>
            </a:extLst>
          </p:cNvPr>
          <p:cNvSpPr>
            <a:spLocks xmlns:a="http://schemas.openxmlformats.org/drawingml/2006/main" noGrp="1"/>
          </p:cNvSpPr>
          <p:nvPr/>
        </p:nvSpPr>
        <p:spPr>
          <a:xfrm xmlns:a="http://schemas.openxmlformats.org/drawingml/2006/main">
            <a:off x="460256" y="3933441"/>
            <a:ext cx="2653334"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500" u="none" cap="none" spc="0">
                <a:ln>
                  <a:noFill/>
                </a:ln>
                <a:solidFill>
                  <a:srgbClr val="FF4305"/>
                </a:solidFill>
              </a:rPr>
              <a:t/>
            </a:r>
            <a:endParaRPr sz="5500">
              <a:solidFill>
                <a:srgbClr val="FF4305"/>
              </a:solidFill>
            </a:endParaRPr>
          </a:p>
        </p:txBody>
      </p:sp>
      <p:sp>
        <p:nvSpPr>
          <p:cNvPr id="12" name="Content Placeholder 15">
            <a:extLst xmlns:a="http://schemas.openxmlformats.org/drawingml/2006/main">
              <a:ext uri="{FF2B5EF4-FFF2-40B4-BE49-F238E27FC236}">
                <a16:creationId xmlns:a16="http://schemas.microsoft.com/office/drawing/2014/main" id="{45FA8062-B7A0-A104-9AAD-F21A3F25683B}"/>
              </a:ext>
            </a:extLst>
          </p:cNvPr>
          <p:cNvSpPr>
            <a:spLocks xmlns:a="http://schemas.openxmlformats.org/drawingml/2006/main" noGrp="1"/>
          </p:cNvSpPr>
          <p:nvPr/>
        </p:nvSpPr>
        <p:spPr>
          <a:xfrm xmlns:a="http://schemas.openxmlformats.org/drawingml/2006/main">
            <a:off x="460256" y="4975635"/>
            <a:ext cx="2653334" cy="90374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
            </a:r>
          </a:p>
        </p:txBody>
      </p:sp>
      <p:sp>
        <p:nvSpPr>
          <p:cNvPr id="15" name="Content Placeholder 9">
            <a:extLst xmlns:a="http://schemas.openxmlformats.org/drawingml/2006/main">
              <a:ext uri="{FF2B5EF4-FFF2-40B4-BE49-F238E27FC236}">
                <a16:creationId xmlns:a16="http://schemas.microsoft.com/office/drawing/2014/main" id="{D7240227-0821-E266-E2C3-115ABA62C62B}"/>
              </a:ext>
            </a:extLst>
          </p:cNvPr>
          <p:cNvSpPr>
            <a:spLocks xmlns:a="http://schemas.openxmlformats.org/drawingml/2006/main" noGrp="1"/>
          </p:cNvSpPr>
          <p:nvPr/>
        </p:nvSpPr>
        <p:spPr>
          <a:xfrm xmlns:a="http://schemas.openxmlformats.org/drawingml/2006/main">
            <a:off x="4106280" y="3933441"/>
            <a:ext cx="2653334"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500" u="none" cap="none" spc="0">
                <a:ln>
                  <a:noFill/>
                </a:ln>
                <a:solidFill>
                  <a:srgbClr val="FF4305"/>
                </a:solidFill>
              </a:rPr>
              <a:t/>
            </a:r>
            <a:endParaRPr sz="5500">
              <a:solidFill>
                <a:srgbClr val="FF4305"/>
              </a:solidFill>
            </a:endParaRPr>
          </a:p>
        </p:txBody>
      </p:sp>
      <p:sp>
        <p:nvSpPr>
          <p:cNvPr id="16" name="Content Placeholder 15">
            <a:extLst xmlns:a="http://schemas.openxmlformats.org/drawingml/2006/main">
              <a:ext uri="{FF2B5EF4-FFF2-40B4-BE49-F238E27FC236}">
                <a16:creationId xmlns:a16="http://schemas.microsoft.com/office/drawing/2014/main" id="{0D91BFBF-1C92-F26C-E60C-53D2ABA18EE5}"/>
              </a:ext>
            </a:extLst>
          </p:cNvPr>
          <p:cNvSpPr>
            <a:spLocks xmlns:a="http://schemas.openxmlformats.org/drawingml/2006/main" noGrp="1"/>
          </p:cNvSpPr>
          <p:nvPr/>
        </p:nvSpPr>
        <p:spPr>
          <a:xfrm xmlns:a="http://schemas.openxmlformats.org/drawingml/2006/main">
            <a:off x="4106280" y="4975635"/>
            <a:ext cx="2653334" cy="90374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
            </a:r>
          </a:p>
        </p:txBody>
      </p:sp>
      <p:sp>
        <p:nvSpPr>
          <p:cNvPr id="21" name="Content Placeholder 9">
            <a:extLst xmlns:a="http://schemas.openxmlformats.org/drawingml/2006/main">
              <a:ext uri="{FF2B5EF4-FFF2-40B4-BE49-F238E27FC236}">
                <a16:creationId xmlns:a16="http://schemas.microsoft.com/office/drawing/2014/main" id="{CFE3A416-C709-ABBB-9B4C-F33DBB3046E9}"/>
              </a:ext>
            </a:extLst>
          </p:cNvPr>
          <p:cNvSpPr>
            <a:spLocks xmlns:a="http://schemas.openxmlformats.org/drawingml/2006/main" noGrp="1"/>
          </p:cNvSpPr>
          <p:nvPr/>
        </p:nvSpPr>
        <p:spPr>
          <a:xfrm xmlns:a="http://schemas.openxmlformats.org/drawingml/2006/main">
            <a:off x="7752304" y="3933441"/>
            <a:ext cx="2653334" cy="903750"/>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5500" u="none" cap="none" spc="0">
                <a:ln>
                  <a:noFill/>
                </a:ln>
                <a:solidFill>
                  <a:srgbClr val="FF4305"/>
                </a:solidFill>
              </a:rPr>
              <a:t/>
            </a:r>
            <a:endParaRPr sz="5500">
              <a:solidFill>
                <a:srgbClr val="FF4305"/>
              </a:solidFill>
            </a:endParaRPr>
          </a:p>
        </p:txBody>
      </p:sp>
      <p:sp>
        <p:nvSpPr>
          <p:cNvPr id="22" name="Content Placeholder 15">
            <a:extLst xmlns:a="http://schemas.openxmlformats.org/drawingml/2006/main">
              <a:ext uri="{FF2B5EF4-FFF2-40B4-BE49-F238E27FC236}">
                <a16:creationId xmlns:a16="http://schemas.microsoft.com/office/drawing/2014/main" id="{DD9E076D-AB6A-B811-2DCD-DFF548717DE3}"/>
              </a:ext>
            </a:extLst>
          </p:cNvPr>
          <p:cNvSpPr>
            <a:spLocks xmlns:a="http://schemas.openxmlformats.org/drawingml/2006/main" noGrp="1"/>
          </p:cNvSpPr>
          <p:nvPr/>
        </p:nvSpPr>
        <p:spPr>
          <a:xfrm xmlns:a="http://schemas.openxmlformats.org/drawingml/2006/main">
            <a:off x="7752304" y="4975635"/>
            <a:ext cx="2653334" cy="90374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
            </a:r>
          </a:p>
        </p:txBody>
      </p:sp>
      <p:sp>
        <p:nvSpPr>
          <p:cNvPr id="534" name="">
            <a:extLst xmlns:a="http://schemas.openxmlformats.org/drawingml/2006/main">
              <a:ext uri="{FF2B5EF4-FFF2-40B4-BE49-F238E27FC236}">
                <a16:creationId xmlns:a16="http://schemas.microsoft.com/office/drawing/2014/main" id="{920380D7-313B-4FE8-9F99-151245B3F3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535" name="">
            <a:extLst xmlns:a="http://schemas.openxmlformats.org/drawingml/2006/main">
              <a:ext uri="{FF2B5EF4-FFF2-40B4-BE49-F238E27FC236}">
                <a16:creationId xmlns:a16="http://schemas.microsoft.com/office/drawing/2014/main" id="{FEB5965E-DF26-4BBC-9E75-7C0AA8AED32D}"/>
              </a:ext>
            </a:extLst>
          </p:cNvPr>
          <p:cNvSpPr>
            <a:spLocks xmlns:a="http://schemas.openxmlformats.org/drawingml/2006/main" noGrp="1"/>
          </p:cNvSpPr>
          <p:nvPr/>
        </p:nvSpPr>
        <p:spPr>
          <a:xfrm xmlns:a="http://schemas.openxmlformats.org/drawingml/2006/main">
            <a:off x="457200" y="3048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Bengaluru has the widest store coverage</a:t>
            </a:r>
          </a:p>
        </p:txBody>
      </p:sp>
      <p:sp>
        <p:nvSpPr>
          <p:cNvPr id="536" name="">
            <a:extLst xmlns:a="http://schemas.openxmlformats.org/drawingml/2006/main">
              <a:ext uri="{FF2B5EF4-FFF2-40B4-BE49-F238E27FC236}">
                <a16:creationId xmlns:a16="http://schemas.microsoft.com/office/drawing/2014/main" id="{29C8653F-216A-4B4F-B870-EFDAD9A37D88}"/>
              </a:ext>
            </a:extLst>
          </p:cNvPr>
          <p:cNvSpPr>
            <a:spLocks xmlns:a="http://schemas.openxmlformats.org/drawingml/2006/main" noGrp="1"/>
          </p:cNvSpPr>
          <p:nvPr/>
        </p:nvSpPr>
        <p:spPr>
          <a:xfrm xmlns:a="http://schemas.openxmlformats.org/drawingml/2006/main">
            <a:off x="476250" y="923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Bengaluru has 10 stores, compared with 8 in Chennai and 7 in Hyderabad</a:t>
            </a:r>
          </a:p>
        </p:txBody>
      </p:sp>
      <p:graphicFrame>
        <p:nvGraphicFramePr>
          <p:cNvPr id="555" name="Chart"/>
          <p:cNvGraphicFramePr/>
          <p:nvPr/>
        </p:nvGraphicFramePr>
        <p:xfrm>
          <a:off xmlns:a="http://schemas.openxmlformats.org/drawingml/2006/main" x="666750" y="1524000"/>
          <a:ext xmlns:a="http://schemas.openxmlformats.org/drawingml/2006/main" cx="7524750" cy="4476750"/>
        </p:xfrm>
        <a:graphic xmlns:a="http://schemas.openxmlformats.org/drawingml/2006/main">
          <a:graphicData uri="http://schemas.openxmlformats.org/drawingml/2006/chart">
            <c:chart xmlns:r="http://schemas.openxmlformats.org/officeDocument/2006/relationships" xmlns:c="http://schemas.openxmlformats.org/drawingml/2006/chart" r:id="Rd41a24dcda7846d1"/>
          </a:graphicData>
        </a:graphic>
      </p:graphicFrame>
      <p:sp>
        <p:nvSpPr>
          <p:cNvPr id="538" name="">
            <a:extLst xmlns:a="http://schemas.openxmlformats.org/drawingml/2006/main">
              <a:ext uri="{FF2B5EF4-FFF2-40B4-BE49-F238E27FC236}">
                <a16:creationId xmlns:a16="http://schemas.microsoft.com/office/drawing/2014/main" id="{8CD09023-7A79-4020-859F-6DEF8C01C582}"/>
              </a:ext>
            </a:extLst>
          </p:cNvPr>
          <p:cNvSpPr>
            <a:spLocks xmlns:a="http://schemas.openxmlformats.org/drawingml/2006/main" noGrp="1"/>
          </p:cNvSpPr>
          <p:nvPr/>
        </p:nvSpPr>
        <p:spPr>
          <a:xfrm xmlns:a="http://schemas.openxmlformats.org/drawingml/2006/main">
            <a:off x="8572500" y="1809750"/>
            <a:ext cx="2619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F6BFF"/>
                </a:solidFill>
                <a:latin typeface="Arial"/>
                <a:ea typeface="Arial"/>
                <a:cs typeface="Arial"/>
              </a:defRPr>
            </a:pPr>
            <a:r>
              <a:rPr sz="1500" b="1">
                <a:solidFill>
                  <a:srgbClr val="2F6BFF"/>
                </a:solidFill>
                <a:latin typeface="Arial"/>
                <a:ea typeface="Arial"/>
                <a:cs typeface="Arial"/>
              </a:rPr>
              <a:t>Coverage implication</a:t>
            </a:r>
          </a:p>
        </p:txBody>
      </p:sp>
      <p:sp>
        <p:nvSpPr>
          <p:cNvPr id="539" name="">
            <a:extLst xmlns:a="http://schemas.openxmlformats.org/drawingml/2006/main">
              <a:ext uri="{FF2B5EF4-FFF2-40B4-BE49-F238E27FC236}">
                <a16:creationId xmlns:a16="http://schemas.microsoft.com/office/drawing/2014/main" id="{F2D88D82-CF94-4EFA-BA28-1E05D01D1BD4}"/>
              </a:ext>
            </a:extLst>
          </p:cNvPr>
          <p:cNvSpPr>
            <a:spLocks xmlns:a="http://schemas.openxmlformats.org/drawingml/2006/main" noGrp="1"/>
          </p:cNvSpPr>
          <p:nvPr/>
        </p:nvSpPr>
        <p:spPr>
          <a:xfrm xmlns:a="http://schemas.openxmlformats.org/drawingml/2006/main">
            <a:off x="8572500" y="2238375"/>
            <a:ext cx="2619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02A43"/>
                </a:solidFill>
                <a:latin typeface="Arial"/>
                <a:ea typeface="Arial"/>
                <a:cs typeface="Arial"/>
              </a:defRPr>
            </a:pPr>
            <a:r>
              <a:rPr sz="1500" b="0">
                <a:solidFill>
                  <a:srgbClr val="102A43"/>
                </a:solidFill>
                <a:latin typeface="Arial"/>
                <a:ea typeface="Arial"/>
                <a:cs typeface="Arial"/>
              </a:rPr>
              <a:t>Bengaluru offers the largest physical base for testing promotions. Chennai and Hyderabad remain sizeable comparison markets, while the remaining cities have five or fewer stores.</a:t>
            </a:r>
          </a:p>
        </p:txBody>
      </p:sp>
      <p:sp>
        <p:nvSpPr>
          <p:cNvPr id="540" name="">
            <a:extLst xmlns:a="http://schemas.openxmlformats.org/drawingml/2006/main">
              <a:ext uri="{FF2B5EF4-FFF2-40B4-BE49-F238E27FC236}">
                <a16:creationId xmlns:a16="http://schemas.microsoft.com/office/drawing/2014/main" id="{EEF0A050-22D4-4EFC-A066-AB68ADD789E6}"/>
              </a:ext>
            </a:extLst>
          </p:cNvPr>
          <p:cNvSpPr>
            <a:spLocks xmlns:a="http://schemas.openxmlformats.org/drawingml/2006/main" noGrp="1"/>
          </p:cNvSpPr>
          <p:nvPr/>
        </p:nvSpPr>
        <p:spPr>
          <a:xfrm xmlns:a="http://schemas.openxmlformats.org/drawingml/2006/main">
            <a:off x="457200" y="6496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26579"/>
                </a:solidFill>
                <a:latin typeface="Arial"/>
                <a:ea typeface="Arial"/>
                <a:cs typeface="Arial"/>
              </a:defRPr>
            </a:pPr>
            <a:r>
              <a:rPr sz="900" b="0">
                <a:solidFill>
                  <a:srgbClr val="526579"/>
                </a:solidFill>
                <a:latin typeface="Arial"/>
                <a:ea typeface="Arial"/>
                <a:cs typeface="Arial"/>
              </a:rPr>
              <a:t>Retail Promotions Analysis</a:t>
            </a:r>
          </a:p>
        </p:txBody>
      </p:sp>
      <p:sp>
        <p:nvSpPr>
          <p:cNvPr id="541" name="">
            <a:extLst xmlns:a="http://schemas.openxmlformats.org/drawingml/2006/main">
              <a:ext uri="{FF2B5EF4-FFF2-40B4-BE49-F238E27FC236}">
                <a16:creationId xmlns:a16="http://schemas.microsoft.com/office/drawing/2014/main" id="{F7A53FD1-9241-4F3C-8E7A-E585707103F5}"/>
              </a:ext>
            </a:extLst>
          </p:cNvPr>
          <p:cNvSpPr>
            <a:spLocks xmlns:a="http://schemas.openxmlformats.org/drawingml/2006/main" noGrp="1"/>
          </p:cNvSpPr>
          <p:nvPr/>
        </p:nvSpPr>
        <p:spPr>
          <a:xfrm xmlns:a="http://schemas.openxmlformats.org/drawingml/2006/main">
            <a:off x="11191875"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26579"/>
                </a:solidFill>
                <a:latin typeface="Arial"/>
                <a:ea typeface="Arial"/>
                <a:cs typeface="Arial"/>
              </a:defRPr>
            </a:pPr>
            <a:r>
              <a:rPr sz="900" b="0">
                <a:solidFill>
                  <a:srgbClr val="526579"/>
                </a:solidFill>
                <a:latin typeface="Arial"/>
                <a:ea typeface="Arial"/>
                <a:cs typeface="Arial"/>
              </a:rPr>
              <a:t>3</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
            </a: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69ADA83D-DF77-AA76-6DA0-7A70CD7A4D20}" type="slidenum">
              <a:rPr>
                <a:solidFill>
                  <a:schemeClr val="bg1">
                    <a:lumMod val="65000"/>
                    <a:lumOff val="35000"/>
                  </a:schemeClr>
                </a:solidFill>
              </a:rPr>
              <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3700" y="344008"/>
            <a:ext cx="55372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
            </a:r>
          </a:p>
        </p:txBody>
      </p:sp>
      <p:pic>
        <p:nvPicPr>
          <p:cNvPr id="547" name="Picture 3"/>
          <p:cNvPicPr>
            <a:picLocks xmlns:a="http://schemas.openxmlformats.org/drawingml/2006/main" noChangeAspect="1"/>
          </p:cNvPicPr>
          <p:nvPr/>
        </p:nvPicPr>
        <p:blipFill>
          <a:blip xmlns:r="http://schemas.openxmlformats.org/officeDocument/2006/relationships" xmlns:a="http://schemas.openxmlformats.org/drawingml/2006/main" r:embed="Rc2a746c609c44116"/>
          <a:srcRect xmlns:a="http://schemas.openxmlformats.org/drawingml/2006/main" l="5428" t="29168" r="0" b="23013"/>
          <a:stretch xmlns:a="http://schemas.openxmlformats.org/drawingml/2006/main">
            <a:fillRect l="0" t="0" r="0" b="0"/>
          </a:stretch>
        </p:blipFill>
        <p:spPr>
          <a:xfrm xmlns:a="http://schemas.openxmlformats.org/drawingml/2006/main">
            <a:off x="6269040" y="396409"/>
            <a:ext cx="5539740" cy="5602070"/>
          </a:xfrm>
          <a:prstGeom xmlns:a="http://schemas.openxmlformats.org/drawingml/2006/main" prst="roundRect">
            <a:avLst>
              <a:gd name="adj" fmla="val 1361"/>
            </a:avLst>
          </a:prstGeom>
        </p:spPr>
      </p:pic>
      <p:sp>
        <p:nvSpPr>
          <p:cNvPr id="2" name="Google Shape;534;p58">
            <a:extLst xmlns:a="http://schemas.openxmlformats.org/drawingml/2006/main">
              <a:ext uri="{FF2B5EF4-FFF2-40B4-BE49-F238E27FC236}">
                <a16:creationId xmlns:a16="http://schemas.microsoft.com/office/drawing/2014/main" id="{C5A7115C-83FA-26C1-A475-11085626EA00}"/>
              </a:ext>
            </a:extLst>
          </p:cNvPr>
          <p:cNvSpPr>
            <a:spLocks xmlns:a="http://schemas.openxmlformats.org/drawingml/2006/main" noGrp="1"/>
          </p:cNvSpPr>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FF4305"/>
                </a:solidFill>
              </a:rPr>
              <a:t/>
            </a:r>
            <a:endParaRPr>
              <a:solidFill>
                <a:srgbClr val="FF4305"/>
              </a:solidFill>
            </a:endParaRPr>
          </a:p>
        </p:txBody>
      </p:sp>
      <p:sp>
        <p:nvSpPr>
          <p:cNvPr id="3" name="TextBox 2">
            <a:extLst xmlns:a="http://schemas.openxmlformats.org/drawingml/2006/main">
              <a:ext uri="{FF2B5EF4-FFF2-40B4-BE49-F238E27FC236}">
                <a16:creationId xmlns:a16="http://schemas.microsoft.com/office/drawing/2014/main" id="{36EE50BE-D82B-E1E1-5863-AFDFAD93FEA6}"/>
              </a:ext>
            </a:extLst>
          </p:cNvPr>
          <p:cNvSpPr>
            <a:spLocks xmlns:a="http://schemas.openxmlformats.org/drawingml/2006/main" noGrp="1"/>
          </p:cNvSpPr>
          <p:nvPr/>
        </p:nvSpPr>
        <p:spPr>
          <a:xfrm xmlns:a="http://schemas.openxmlformats.org/drawingml/2006/main">
            <a:off x="393700" y="2918564"/>
            <a:ext cx="5537200" cy="2923493"/>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R="0" lvl="0">
              <a:lnSpc>
                <a:spcPct val="114000"/>
              </a:lnSpc>
              <a:spcAft>
                <a:spcPts val="800"/>
              </a:spcAft>
              <a:buClrTx/>
              <a:buSzTx/>
              <a:buNone/>
            </a:pPr>
            <a:r>
              <a:t/>
            </a:r>
          </a:p>
        </p:txBody>
      </p:sp>
      <p:sp>
        <p:nvSpPr>
          <p:cNvPr id="535" name="">
            <a:extLst xmlns:a="http://schemas.openxmlformats.org/drawingml/2006/main">
              <a:ext uri="{FF2B5EF4-FFF2-40B4-BE49-F238E27FC236}">
                <a16:creationId xmlns:a16="http://schemas.microsoft.com/office/drawing/2014/main" id="{FBA3BC18-7014-437A-992D-9D1AE9FBA8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536" name="">
            <a:extLst xmlns:a="http://schemas.openxmlformats.org/drawingml/2006/main">
              <a:ext uri="{FF2B5EF4-FFF2-40B4-BE49-F238E27FC236}">
                <a16:creationId xmlns:a16="http://schemas.microsoft.com/office/drawing/2014/main" id="{0602DFD5-AD30-4C65-9EB1-27B07FA1AA0F}"/>
              </a:ext>
            </a:extLst>
          </p:cNvPr>
          <p:cNvSpPr>
            <a:spLocks xmlns:a="http://schemas.openxmlformats.org/drawingml/2006/main" noGrp="1"/>
          </p:cNvSpPr>
          <p:nvPr/>
        </p:nvSpPr>
        <p:spPr>
          <a:xfrm xmlns:a="http://schemas.openxmlformats.org/drawingml/2006/main">
            <a:off x="457200" y="3048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Grocery &amp; Staples drives Sankranti unit volume</a:t>
            </a:r>
          </a:p>
        </p:txBody>
      </p:sp>
      <p:sp>
        <p:nvSpPr>
          <p:cNvPr id="537" name="">
            <a:extLst xmlns:a="http://schemas.openxmlformats.org/drawingml/2006/main">
              <a:ext uri="{FF2B5EF4-FFF2-40B4-BE49-F238E27FC236}">
                <a16:creationId xmlns:a16="http://schemas.microsoft.com/office/drawing/2014/main" id="{BB6775DF-E82D-4173-AF62-A95AEA462921}"/>
              </a:ext>
            </a:extLst>
          </p:cNvPr>
          <p:cNvSpPr>
            <a:spLocks xmlns:a="http://schemas.openxmlformats.org/drawingml/2006/main" noGrp="1"/>
          </p:cNvSpPr>
          <p:nvPr/>
        </p:nvSpPr>
        <p:spPr>
          <a:xfrm xmlns:a="http://schemas.openxmlformats.org/drawingml/2006/main">
            <a:off x="476250" y="923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Category contribution to total quantity sold after promotion</a:t>
            </a:r>
          </a:p>
        </p:txBody>
      </p:sp>
      <p:graphicFrame>
        <p:nvGraphicFramePr>
          <p:cNvPr id="553" name="Chart"/>
          <p:cNvGraphicFramePr/>
          <p:nvPr/>
        </p:nvGraphicFramePr>
        <p:xfrm>
          <a:off xmlns:a="http://schemas.openxmlformats.org/drawingml/2006/main" x="666750" y="1524000"/>
          <a:ext xmlns:a="http://schemas.openxmlformats.org/drawingml/2006/main" cx="6191250" cy="4476750"/>
        </p:xfrm>
        <a:graphic xmlns:a="http://schemas.openxmlformats.org/drawingml/2006/main">
          <a:graphicData uri="http://schemas.openxmlformats.org/drawingml/2006/chart">
            <c:chart xmlns:r="http://schemas.openxmlformats.org/officeDocument/2006/relationships" xmlns:c="http://schemas.openxmlformats.org/drawingml/2006/chart" r:id="R3a0551f794db4204"/>
          </a:graphicData>
        </a:graphic>
      </p:graphicFrame>
      <p:sp>
        <p:nvSpPr>
          <p:cNvPr id="539" name="">
            <a:extLst xmlns:a="http://schemas.openxmlformats.org/drawingml/2006/main">
              <a:ext uri="{FF2B5EF4-FFF2-40B4-BE49-F238E27FC236}">
                <a16:creationId xmlns:a16="http://schemas.microsoft.com/office/drawing/2014/main" id="{6B8F43DA-80C2-40CD-90D4-A3687EFD5A60}"/>
              </a:ext>
            </a:extLst>
          </p:cNvPr>
          <p:cNvSpPr>
            <a:spLocks xmlns:a="http://schemas.openxmlformats.org/drawingml/2006/main" noGrp="1"/>
          </p:cNvSpPr>
          <p:nvPr/>
        </p:nvSpPr>
        <p:spPr>
          <a:xfrm xmlns:a="http://schemas.openxmlformats.org/drawingml/2006/main">
            <a:off x="7810500" y="2190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050" b="1">
                <a:solidFill>
                  <a:srgbClr val="2F6BFF"/>
                </a:solidFill>
                <a:latin typeface="Arial"/>
                <a:ea typeface="Arial"/>
                <a:cs typeface="Arial"/>
              </a:defRPr>
            </a:pPr>
            <a:r>
              <a:rPr sz="4050" b="1">
                <a:solidFill>
                  <a:srgbClr val="2F6BFF"/>
                </a:solidFill>
                <a:latin typeface="Arial"/>
                <a:ea typeface="Arial"/>
                <a:cs typeface="Arial"/>
              </a:rPr>
              <a:t>70.51%</a:t>
            </a:r>
          </a:p>
        </p:txBody>
      </p:sp>
      <p:sp>
        <p:nvSpPr>
          <p:cNvPr id="540" name="">
            <a:extLst xmlns:a="http://schemas.openxmlformats.org/drawingml/2006/main">
              <a:ext uri="{FF2B5EF4-FFF2-40B4-BE49-F238E27FC236}">
                <a16:creationId xmlns:a16="http://schemas.microsoft.com/office/drawing/2014/main" id="{172D2578-10C3-4608-A67C-05857F17C3CE}"/>
              </a:ext>
            </a:extLst>
          </p:cNvPr>
          <p:cNvSpPr>
            <a:spLocks xmlns:a="http://schemas.openxmlformats.org/drawingml/2006/main" noGrp="1"/>
          </p:cNvSpPr>
          <p:nvPr/>
        </p:nvSpPr>
        <p:spPr>
          <a:xfrm xmlns:a="http://schemas.openxmlformats.org/drawingml/2006/main">
            <a:off x="7858125" y="319087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02"/>
          </a:bodyPr>
          <a:lstStyle xmlns:a="http://schemas.openxmlformats.org/drawingml/2006/main"/>
          <a:p xmlns:a="http://schemas.openxmlformats.org/drawingml/2006/main">
            <a:pPr algn="ctr">
              <a:defRPr sz="1575" b="1">
                <a:solidFill>
                  <a:srgbClr val="102A43"/>
                </a:solidFill>
                <a:latin typeface="Arial"/>
                <a:ea typeface="Arial"/>
                <a:cs typeface="Arial"/>
              </a:defRPr>
            </a:pPr>
            <a:r>
              <a:rPr sz="1575" b="1">
                <a:solidFill>
                  <a:srgbClr val="102A43"/>
                </a:solidFill>
                <a:latin typeface="Arial"/>
                <a:ea typeface="Arial"/>
                <a:cs typeface="Arial"/>
              </a:rPr>
              <a:t>Grocery &amp; Staples contribution</a:t>
            </a:r>
          </a:p>
        </p:txBody>
      </p:sp>
      <p:sp>
        <p:nvSpPr>
          <p:cNvPr id="541" name="">
            <a:extLst xmlns:a="http://schemas.openxmlformats.org/drawingml/2006/main">
              <a:ext uri="{FF2B5EF4-FFF2-40B4-BE49-F238E27FC236}">
                <a16:creationId xmlns:a16="http://schemas.microsoft.com/office/drawing/2014/main" id="{EB495424-193C-436A-8EDF-04542536E711}"/>
              </a:ext>
            </a:extLst>
          </p:cNvPr>
          <p:cNvSpPr>
            <a:spLocks xmlns:a="http://schemas.openxmlformats.org/drawingml/2006/main" noGrp="1"/>
          </p:cNvSpPr>
          <p:nvPr/>
        </p:nvSpPr>
        <p:spPr>
          <a:xfrm xmlns:a="http://schemas.openxmlformats.org/drawingml/2006/main">
            <a:off x="7715250" y="390525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526579"/>
                </a:solidFill>
                <a:latin typeface="Arial"/>
                <a:ea typeface="Arial"/>
                <a:cs typeface="Arial"/>
              </a:defRPr>
            </a:pPr>
            <a:r>
              <a:rPr sz="1425" b="0">
                <a:solidFill>
                  <a:srgbClr val="526579"/>
                </a:solidFill>
                <a:latin typeface="Arial"/>
                <a:ea typeface="Arial"/>
                <a:cs typeface="Arial"/>
              </a:rPr>
              <a:t>The next largest category, Home Appliances, contributes 14.13%. The remaining categories each contribute less than 7%.</a:t>
            </a:r>
          </a:p>
        </p:txBody>
      </p:sp>
      <p:sp>
        <p:nvSpPr>
          <p:cNvPr id="542" name="">
            <a:extLst xmlns:a="http://schemas.openxmlformats.org/drawingml/2006/main">
              <a:ext uri="{FF2B5EF4-FFF2-40B4-BE49-F238E27FC236}">
                <a16:creationId xmlns:a16="http://schemas.microsoft.com/office/drawing/2014/main" id="{D7905D1E-02A5-4266-A6A9-5AAB337C0D35}"/>
              </a:ext>
            </a:extLst>
          </p:cNvPr>
          <p:cNvSpPr>
            <a:spLocks xmlns:a="http://schemas.openxmlformats.org/drawingml/2006/main" noGrp="1"/>
          </p:cNvSpPr>
          <p:nvPr/>
        </p:nvSpPr>
        <p:spPr>
          <a:xfrm xmlns:a="http://schemas.openxmlformats.org/drawingml/2006/main">
            <a:off x="457200" y="6496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26579"/>
                </a:solidFill>
                <a:latin typeface="Arial"/>
                <a:ea typeface="Arial"/>
                <a:cs typeface="Arial"/>
              </a:defRPr>
            </a:pPr>
            <a:r>
              <a:rPr sz="900" b="0">
                <a:solidFill>
                  <a:srgbClr val="526579"/>
                </a:solidFill>
                <a:latin typeface="Arial"/>
                <a:ea typeface="Arial"/>
                <a:cs typeface="Arial"/>
              </a:rPr>
              <a:t>Retail Promotions Analysis</a:t>
            </a:r>
          </a:p>
        </p:txBody>
      </p:sp>
      <p:sp>
        <p:nvSpPr>
          <p:cNvPr id="543" name="">
            <a:extLst xmlns:a="http://schemas.openxmlformats.org/drawingml/2006/main">
              <a:ext uri="{FF2B5EF4-FFF2-40B4-BE49-F238E27FC236}">
                <a16:creationId xmlns:a16="http://schemas.microsoft.com/office/drawing/2014/main" id="{1A339A43-C64C-4B7C-A3F4-A90D597891CC}"/>
              </a:ext>
            </a:extLst>
          </p:cNvPr>
          <p:cNvSpPr>
            <a:spLocks xmlns:a="http://schemas.openxmlformats.org/drawingml/2006/main" noGrp="1"/>
          </p:cNvSpPr>
          <p:nvPr/>
        </p:nvSpPr>
        <p:spPr>
          <a:xfrm xmlns:a="http://schemas.openxmlformats.org/drawingml/2006/main">
            <a:off x="11191875"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26579"/>
                </a:solidFill>
                <a:latin typeface="Arial"/>
                <a:ea typeface="Arial"/>
                <a:cs typeface="Arial"/>
              </a:defRPr>
            </a:pPr>
            <a:r>
              <a:rPr sz="900" b="0">
                <a:solidFill>
                  <a:srgbClr val="526579"/>
                </a:solidFill>
                <a:latin typeface="Arial"/>
                <a:ea typeface="Arial"/>
                <a:cs typeface="Arial"/>
              </a:rPr>
              <a:t>4</a:t>
            </a:r>
          </a:p>
        </p:txBody>
      </p:sp>
    </p:spTree>
    <p:extLst>
      <p:ext uri="{BB962C8B-B14F-4D97-AF65-F5344CB8AC3E}">
        <p14:creationId xmlns:p14="http://schemas.microsoft.com/office/powerpoint/2010/main" val="32456707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
            </a: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69ADA83D-DF77-AA76-6DA0-7A70CD7A4D20}" type="slidenum">
              <a:rPr>
                <a:solidFill>
                  <a:schemeClr val="bg1">
                    <a:lumMod val="65000"/>
                    <a:lumOff val="35000"/>
                  </a:schemeClr>
                </a:solidFill>
              </a:rPr>
              <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3700" y="344008"/>
            <a:ext cx="55372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
            </a:r>
          </a:p>
        </p:txBody>
      </p:sp>
      <p:pic>
        <p:nvPicPr>
          <p:cNvPr id="546" name="Picture 3"/>
          <p:cNvPicPr>
            <a:picLocks xmlns:a="http://schemas.openxmlformats.org/drawingml/2006/main" noChangeAspect="1"/>
          </p:cNvPicPr>
          <p:nvPr/>
        </p:nvPicPr>
        <p:blipFill>
          <a:blip xmlns:r="http://schemas.openxmlformats.org/officeDocument/2006/relationships" xmlns:a="http://schemas.openxmlformats.org/drawingml/2006/main" r:embed="R069e6cc3b1d94b38"/>
          <a:srcRect xmlns:a="http://schemas.openxmlformats.org/drawingml/2006/main" l="5428" t="29168" r="0" b="23013"/>
          <a:stretch xmlns:a="http://schemas.openxmlformats.org/drawingml/2006/main">
            <a:fillRect l="0" t="0" r="0" b="0"/>
          </a:stretch>
        </p:blipFill>
        <p:spPr>
          <a:xfrm xmlns:a="http://schemas.openxmlformats.org/drawingml/2006/main">
            <a:off x="6269040" y="396409"/>
            <a:ext cx="5539740" cy="5602070"/>
          </a:xfrm>
          <a:prstGeom xmlns:a="http://schemas.openxmlformats.org/drawingml/2006/main" prst="roundRect">
            <a:avLst>
              <a:gd name="adj" fmla="val 1361"/>
            </a:avLst>
          </a:prstGeom>
        </p:spPr>
      </p:pic>
      <p:sp>
        <p:nvSpPr>
          <p:cNvPr id="2" name="Google Shape;534;p58">
            <a:extLst xmlns:a="http://schemas.openxmlformats.org/drawingml/2006/main">
              <a:ext uri="{FF2B5EF4-FFF2-40B4-BE49-F238E27FC236}">
                <a16:creationId xmlns:a16="http://schemas.microsoft.com/office/drawing/2014/main" id="{C5A7115C-83FA-26C1-A475-11085626EA00}"/>
              </a:ext>
            </a:extLst>
          </p:cNvPr>
          <p:cNvSpPr>
            <a:spLocks xmlns:a="http://schemas.openxmlformats.org/drawingml/2006/main" noGrp="1"/>
          </p:cNvSpPr>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FF4305"/>
                </a:solidFill>
              </a:rPr>
              <a:t/>
            </a:r>
            <a:endParaRPr>
              <a:solidFill>
                <a:srgbClr val="FF4305"/>
              </a:solidFill>
            </a:endParaRPr>
          </a:p>
        </p:txBody>
      </p:sp>
      <p:sp>
        <p:nvSpPr>
          <p:cNvPr id="3" name="TextBox 2">
            <a:extLst xmlns:a="http://schemas.openxmlformats.org/drawingml/2006/main">
              <a:ext uri="{FF2B5EF4-FFF2-40B4-BE49-F238E27FC236}">
                <a16:creationId xmlns:a16="http://schemas.microsoft.com/office/drawing/2014/main" id="{36EE50BE-D82B-E1E1-5863-AFDFAD93FEA6}"/>
              </a:ext>
            </a:extLst>
          </p:cNvPr>
          <p:cNvSpPr>
            <a:spLocks xmlns:a="http://schemas.openxmlformats.org/drawingml/2006/main" noGrp="1"/>
          </p:cNvSpPr>
          <p:nvPr/>
        </p:nvSpPr>
        <p:spPr>
          <a:xfrm xmlns:a="http://schemas.openxmlformats.org/drawingml/2006/main">
            <a:off x="393700" y="2918564"/>
            <a:ext cx="5537200" cy="2923493"/>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R="0" lvl="0">
              <a:lnSpc>
                <a:spcPct val="114000"/>
              </a:lnSpc>
              <a:spcAft>
                <a:spcPts val="800"/>
              </a:spcAft>
              <a:buClrTx/>
              <a:buSzTx/>
              <a:buNone/>
            </a:pPr>
            <a:r>
              <a:t/>
            </a:r>
          </a:p>
        </p:txBody>
      </p:sp>
      <p:sp>
        <p:nvSpPr>
          <p:cNvPr id="535" name="">
            <a:extLst xmlns:a="http://schemas.openxmlformats.org/drawingml/2006/main">
              <a:ext uri="{FF2B5EF4-FFF2-40B4-BE49-F238E27FC236}">
                <a16:creationId xmlns:a16="http://schemas.microsoft.com/office/drawing/2014/main" id="{60DAC1D6-D377-4C9E-BE72-17E44B8049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536" name="">
            <a:extLst xmlns:a="http://schemas.openxmlformats.org/drawingml/2006/main">
              <a:ext uri="{FF2B5EF4-FFF2-40B4-BE49-F238E27FC236}">
                <a16:creationId xmlns:a16="http://schemas.microsoft.com/office/drawing/2014/main" id="{C01C9746-9D42-4A07-8C86-E4D90877096A}"/>
              </a:ext>
            </a:extLst>
          </p:cNvPr>
          <p:cNvSpPr>
            <a:spLocks xmlns:a="http://schemas.openxmlformats.org/drawingml/2006/main" noGrp="1"/>
          </p:cNvSpPr>
          <p:nvPr/>
        </p:nvSpPr>
        <p:spPr>
          <a:xfrm xmlns:a="http://schemas.openxmlformats.org/drawingml/2006/main">
            <a:off x="457200" y="3048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Price alone explains little of post-promotion sales</a:t>
            </a:r>
          </a:p>
        </p:txBody>
      </p:sp>
      <p:sp>
        <p:nvSpPr>
          <p:cNvPr id="537" name="">
            <a:extLst xmlns:a="http://schemas.openxmlformats.org/drawingml/2006/main">
              <a:ext uri="{FF2B5EF4-FFF2-40B4-BE49-F238E27FC236}">
                <a16:creationId xmlns:a16="http://schemas.microsoft.com/office/drawing/2014/main" id="{EC7CA0A4-F85A-442D-B5C1-8AF7A91C1DA1}"/>
              </a:ext>
            </a:extLst>
          </p:cNvPr>
          <p:cNvSpPr>
            <a:spLocks xmlns:a="http://schemas.openxmlformats.org/drawingml/2006/main" noGrp="1"/>
          </p:cNvSpPr>
          <p:nvPr/>
        </p:nvSpPr>
        <p:spPr>
          <a:xfrm xmlns:a="http://schemas.openxmlformats.org/drawingml/2006/main">
            <a:off x="476250" y="923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Pearson correlation between post-promotion base price and quantity sold is 0.269</a:t>
            </a:r>
          </a:p>
        </p:txBody>
      </p:sp>
      <p:graphicFrame>
        <p:nvGraphicFramePr>
          <p:cNvPr id="552" name=""/>
          <p:cNvGraphicFramePr/>
          <p:nvPr/>
        </p:nvGraphicFramePr>
        <p:xfrm>
          <a:off xmlns:a="http://schemas.openxmlformats.org/drawingml/2006/main" x="1000125" y="2000250"/>
          <a:ext xmlns:a="http://schemas.openxmlformats.org/drawingml/2006/main" cx="6191250" cy="2857500"/>
        </p:xfrm>
        <a:graphic xmlns:a="http://schemas.openxmlformats.org/drawingml/2006/main">
          <a:graphicData uri="http://schemas.openxmlformats.org/drawingml/2006/table">
            <a:tbl>
              <a:tblPr/>
              <a:tblGrid>
                <a:gridCol w="2063750"/>
                <a:gridCol w="2063750"/>
                <a:gridCol w="2063750"/>
              </a:tblGrid>
              <a:tr h="952500">
                <a:tc>
                  <a:txBody>
                    <a:bodyPr/>
                    <a:lstStyle/>
                    <a:p>
                      <a:r>
                        <a:rPr sz="1350">
                          <a:solidFill>
                            <a:srgbClr val="FFFFFF"/>
                          </a:solidFill>
                        </a:rPr>
                        <a:t/>
                      </a:r>
                    </a:p>
                  </a:txBody>
                  <a:tcPr marL="91440" marR="91440" marT="45720" marB="45720">
                    <a:solidFill>
                      <a:srgbClr val="102A43"/>
                    </a:solidFill>
                  </a:tcPr>
                </a:tc>
                <a:tc>
                  <a:txBody>
                    <a:bodyPr/>
                    <a:lstStyle/>
                    <a:p>
                      <a:r>
                        <a:rPr sz="1350">
                          <a:solidFill>
                            <a:srgbClr val="FFFFFF"/>
                          </a:solidFill>
                        </a:rPr>
                        <a:t>Post-promo price</a:t>
                      </a:r>
                    </a:p>
                  </a:txBody>
                  <a:tcPr marL="91440" marR="91440" marT="45720" marB="45720">
                    <a:solidFill>
                      <a:srgbClr val="102A43"/>
                    </a:solidFill>
                  </a:tcPr>
                </a:tc>
                <a:tc>
                  <a:txBody>
                    <a:bodyPr/>
                    <a:lstStyle/>
                    <a:p>
                      <a:r>
                        <a:rPr sz="1350">
                          <a:solidFill>
                            <a:srgbClr val="FFFFFF"/>
                          </a:solidFill>
                        </a:rPr>
                        <a:t>Post-promo quantity</a:t>
                      </a:r>
                    </a:p>
                  </a:txBody>
                  <a:tcPr marL="91440" marR="91440" marT="45720" marB="45720">
                    <a:solidFill>
                      <a:srgbClr val="102A43"/>
                    </a:solidFill>
                  </a:tcPr>
                </a:tc>
              </a:tr>
              <a:tr h="952500">
                <a:tc>
                  <a:txBody>
                    <a:bodyPr/>
                    <a:lstStyle/>
                    <a:p>
                      <a:r>
                        <a:rPr sz="1350">
                          <a:solidFill>
                            <a:srgbClr val="FFFFFF"/>
                          </a:solidFill>
                        </a:rPr>
                        <a:t>Post-promo price</a:t>
                      </a:r>
                    </a:p>
                  </a:txBody>
                  <a:tcPr marL="91440" marR="91440" marT="45720" marB="45720">
                    <a:solidFill>
                      <a:srgbClr val="102A43"/>
                    </a:solidFill>
                  </a:tcPr>
                </a:tc>
                <a:tc>
                  <a:txBody>
                    <a:bodyPr/>
                    <a:lstStyle/>
                    <a:p>
                      <a:r>
                        <a:rPr sz="1350"/>
                        <a:t>1.000</a:t>
                      </a:r>
                    </a:p>
                  </a:txBody>
                  <a:tcPr marL="91440" marR="91440" marT="45720" marB="45720">
                    <a:solidFill>
                      <a:srgbClr val="D95F59"/>
                    </a:solidFill>
                  </a:tcPr>
                </a:tc>
                <a:tc>
                  <a:txBody>
                    <a:bodyPr/>
                    <a:lstStyle/>
                    <a:p>
                      <a:r>
                        <a:rPr sz="1350"/>
                        <a:t>0.269</a:t>
                      </a:r>
                    </a:p>
                  </a:txBody>
                  <a:tcPr marL="91440" marR="91440" marT="45720" marB="45720">
                    <a:solidFill>
                      <a:srgbClr val="CFE3F5"/>
                    </a:solidFill>
                  </a:tcPr>
                </a:tc>
              </a:tr>
              <a:tr h="952500">
                <a:tc>
                  <a:txBody>
                    <a:bodyPr/>
                    <a:lstStyle/>
                    <a:p>
                      <a:r>
                        <a:rPr sz="1350">
                          <a:solidFill>
                            <a:srgbClr val="FFFFFF"/>
                          </a:solidFill>
                        </a:rPr>
                        <a:t>Post-promo quantity</a:t>
                      </a:r>
                    </a:p>
                  </a:txBody>
                  <a:tcPr marL="91440" marR="91440" marT="45720" marB="45720">
                    <a:solidFill>
                      <a:srgbClr val="102A43"/>
                    </a:solidFill>
                  </a:tcPr>
                </a:tc>
                <a:tc>
                  <a:txBody>
                    <a:bodyPr/>
                    <a:lstStyle/>
                    <a:p>
                      <a:r>
                        <a:rPr sz="1350"/>
                        <a:t>0.269</a:t>
                      </a:r>
                    </a:p>
                  </a:txBody>
                  <a:tcPr marL="91440" marR="91440" marT="45720" marB="45720">
                    <a:solidFill>
                      <a:srgbClr val="CFE3F5"/>
                    </a:solidFill>
                  </a:tcPr>
                </a:tc>
                <a:tc>
                  <a:txBody>
                    <a:bodyPr/>
                    <a:lstStyle/>
                    <a:p>
                      <a:r>
                        <a:rPr sz="1350"/>
                        <a:t>1.000</a:t>
                      </a:r>
                    </a:p>
                  </a:txBody>
                  <a:tcPr marL="91440" marR="91440" marT="45720" marB="45720">
                    <a:solidFill>
                      <a:srgbClr val="D95F59"/>
                    </a:solidFill>
                  </a:tcPr>
                </a:tc>
              </a:tr>
            </a:tbl>
          </a:graphicData>
        </a:graphic>
      </p:graphicFrame>
      <p:sp>
        <p:nvSpPr>
          <p:cNvPr id="539" name="">
            <a:extLst xmlns:a="http://schemas.openxmlformats.org/drawingml/2006/main">
              <a:ext uri="{FF2B5EF4-FFF2-40B4-BE49-F238E27FC236}">
                <a16:creationId xmlns:a16="http://schemas.microsoft.com/office/drawing/2014/main" id="{9CA25C5E-7FCF-435D-A1FA-C41E03DF122C}"/>
              </a:ext>
            </a:extLst>
          </p:cNvPr>
          <p:cNvSpPr>
            <a:spLocks xmlns:a="http://schemas.openxmlformats.org/drawingml/2006/main" noGrp="1"/>
          </p:cNvSpPr>
          <p:nvPr/>
        </p:nvSpPr>
        <p:spPr>
          <a:xfrm xmlns:a="http://schemas.openxmlformats.org/drawingml/2006/main">
            <a:off x="8001000" y="19526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F6BFF"/>
                </a:solidFill>
                <a:latin typeface="Arial"/>
                <a:ea typeface="Arial"/>
                <a:cs typeface="Arial"/>
              </a:defRPr>
            </a:pPr>
            <a:r>
              <a:rPr sz="1575" b="1">
                <a:solidFill>
                  <a:srgbClr val="2F6BFF"/>
                </a:solidFill>
                <a:latin typeface="Arial"/>
                <a:ea typeface="Arial"/>
                <a:cs typeface="Arial"/>
              </a:rPr>
              <a:t>Interpretation</a:t>
            </a:r>
          </a:p>
        </p:txBody>
      </p:sp>
      <p:sp>
        <p:nvSpPr>
          <p:cNvPr id="540" name="">
            <a:extLst xmlns:a="http://schemas.openxmlformats.org/drawingml/2006/main">
              <a:ext uri="{FF2B5EF4-FFF2-40B4-BE49-F238E27FC236}">
                <a16:creationId xmlns:a16="http://schemas.microsoft.com/office/drawing/2014/main" id="{47DE0E55-9A59-41CE-A74A-B1039E680582}"/>
              </a:ext>
            </a:extLst>
          </p:cNvPr>
          <p:cNvSpPr>
            <a:spLocks xmlns:a="http://schemas.openxmlformats.org/drawingml/2006/main" noGrp="1"/>
          </p:cNvSpPr>
          <p:nvPr/>
        </p:nvSpPr>
        <p:spPr>
          <a:xfrm xmlns:a="http://schemas.openxmlformats.org/drawingml/2006/main">
            <a:off x="8001000" y="2476500"/>
            <a:ext cx="3143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02A43"/>
                </a:solidFill>
                <a:latin typeface="Arial"/>
                <a:ea typeface="Arial"/>
                <a:cs typeface="Arial"/>
              </a:defRPr>
            </a:pPr>
            <a:r>
              <a:rPr sz="1500" b="0">
                <a:solidFill>
                  <a:srgbClr val="102A43"/>
                </a:solidFill>
                <a:latin typeface="Arial"/>
                <a:ea typeface="Arial"/>
                <a:cs typeface="Arial"/>
              </a:rPr>
              <a:t>The relationship is weak and positive. Higher prices do not consistently reduce post-promotion quantity in this dataset. Product category and promotion type probably influence the pattern, so correlation should not be treated as causation.</a:t>
            </a:r>
          </a:p>
        </p:txBody>
      </p:sp>
      <p:sp>
        <p:nvSpPr>
          <p:cNvPr id="541" name="">
            <a:extLst xmlns:a="http://schemas.openxmlformats.org/drawingml/2006/main">
              <a:ext uri="{FF2B5EF4-FFF2-40B4-BE49-F238E27FC236}">
                <a16:creationId xmlns:a16="http://schemas.microsoft.com/office/drawing/2014/main" id="{B8A5E1DC-0944-44F3-B326-F675DFF37E16}"/>
              </a:ext>
            </a:extLst>
          </p:cNvPr>
          <p:cNvSpPr>
            <a:spLocks xmlns:a="http://schemas.openxmlformats.org/drawingml/2006/main" noGrp="1"/>
          </p:cNvSpPr>
          <p:nvPr/>
        </p:nvSpPr>
        <p:spPr>
          <a:xfrm xmlns:a="http://schemas.openxmlformats.org/drawingml/2006/main">
            <a:off x="457200" y="6496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26579"/>
                </a:solidFill>
                <a:latin typeface="Arial"/>
                <a:ea typeface="Arial"/>
                <a:cs typeface="Arial"/>
              </a:defRPr>
            </a:pPr>
            <a:r>
              <a:rPr sz="900" b="0">
                <a:solidFill>
                  <a:srgbClr val="526579"/>
                </a:solidFill>
                <a:latin typeface="Arial"/>
                <a:ea typeface="Arial"/>
                <a:cs typeface="Arial"/>
              </a:rPr>
              <a:t>Retail Promotions Analysis</a:t>
            </a:r>
          </a:p>
        </p:txBody>
      </p:sp>
      <p:sp>
        <p:nvSpPr>
          <p:cNvPr id="542" name="">
            <a:extLst xmlns:a="http://schemas.openxmlformats.org/drawingml/2006/main">
              <a:ext uri="{FF2B5EF4-FFF2-40B4-BE49-F238E27FC236}">
                <a16:creationId xmlns:a16="http://schemas.microsoft.com/office/drawing/2014/main" id="{BC58B9F7-CCDA-4306-97C5-0DD41304BA86}"/>
              </a:ext>
            </a:extLst>
          </p:cNvPr>
          <p:cNvSpPr>
            <a:spLocks xmlns:a="http://schemas.openxmlformats.org/drawingml/2006/main" noGrp="1"/>
          </p:cNvSpPr>
          <p:nvPr/>
        </p:nvSpPr>
        <p:spPr>
          <a:xfrm xmlns:a="http://schemas.openxmlformats.org/drawingml/2006/main">
            <a:off x="11191875"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26579"/>
                </a:solidFill>
                <a:latin typeface="Arial"/>
                <a:ea typeface="Arial"/>
                <a:cs typeface="Arial"/>
              </a:defRPr>
            </a:pPr>
            <a:r>
              <a:rPr sz="900" b="0">
                <a:solidFill>
                  <a:srgbClr val="526579"/>
                </a:solidFill>
                <a:latin typeface="Arial"/>
                <a:ea typeface="Arial"/>
                <a:cs typeface="Arial"/>
              </a:rPr>
              <a:t>5</a:t>
            </a:r>
          </a:p>
        </p:txBody>
      </p:sp>
    </p:spTree>
    <p:extLst>
      <p:ext uri="{BB962C8B-B14F-4D97-AF65-F5344CB8AC3E}">
        <p14:creationId xmlns:p14="http://schemas.microsoft.com/office/powerpoint/2010/main" val="3245670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
            </a: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69ADA83D-DF77-AA76-6DA0-7A70CD7A4D20}" type="slidenum">
              <a:rPr>
                <a:solidFill>
                  <a:schemeClr val="bg1">
                    <a:lumMod val="65000"/>
                    <a:lumOff val="35000"/>
                  </a:schemeClr>
                </a:solidFill>
              </a:rPr>
              <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3700" y="344008"/>
            <a:ext cx="55372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
            </a:r>
          </a:p>
        </p:txBody>
      </p:sp>
      <p:pic>
        <p:nvPicPr>
          <p:cNvPr id="553" name="Picture 3"/>
          <p:cNvPicPr>
            <a:picLocks xmlns:a="http://schemas.openxmlformats.org/drawingml/2006/main" noChangeAspect="1"/>
          </p:cNvPicPr>
          <p:nvPr/>
        </p:nvPicPr>
        <p:blipFill>
          <a:blip xmlns:r="http://schemas.openxmlformats.org/officeDocument/2006/relationships" xmlns:a="http://schemas.openxmlformats.org/drawingml/2006/main" r:embed="R4fa6ff3c51034f24"/>
          <a:srcRect xmlns:a="http://schemas.openxmlformats.org/drawingml/2006/main" l="5428" t="29168" r="0" b="23013"/>
          <a:stretch xmlns:a="http://schemas.openxmlformats.org/drawingml/2006/main">
            <a:fillRect l="0" t="0" r="0" b="0"/>
          </a:stretch>
        </p:blipFill>
        <p:spPr>
          <a:xfrm xmlns:a="http://schemas.openxmlformats.org/drawingml/2006/main">
            <a:off x="6269040" y="396409"/>
            <a:ext cx="5539740" cy="5602070"/>
          </a:xfrm>
          <a:prstGeom xmlns:a="http://schemas.openxmlformats.org/drawingml/2006/main" prst="roundRect">
            <a:avLst>
              <a:gd name="adj" fmla="val 1361"/>
            </a:avLst>
          </a:prstGeom>
        </p:spPr>
      </p:pic>
      <p:sp>
        <p:nvSpPr>
          <p:cNvPr id="2" name="Google Shape;534;p58">
            <a:extLst xmlns:a="http://schemas.openxmlformats.org/drawingml/2006/main">
              <a:ext uri="{FF2B5EF4-FFF2-40B4-BE49-F238E27FC236}">
                <a16:creationId xmlns:a16="http://schemas.microsoft.com/office/drawing/2014/main" id="{C5A7115C-83FA-26C1-A475-11085626EA00}"/>
              </a:ext>
            </a:extLst>
          </p:cNvPr>
          <p:cNvSpPr>
            <a:spLocks xmlns:a="http://schemas.openxmlformats.org/drawingml/2006/main" noGrp="1"/>
          </p:cNvSpPr>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FF4305"/>
                </a:solidFill>
              </a:rPr>
              <a:t/>
            </a:r>
            <a:endParaRPr>
              <a:solidFill>
                <a:srgbClr val="FF4305"/>
              </a:solidFill>
            </a:endParaRPr>
          </a:p>
        </p:txBody>
      </p:sp>
      <p:sp>
        <p:nvSpPr>
          <p:cNvPr id="3" name="TextBox 2">
            <a:extLst xmlns:a="http://schemas.openxmlformats.org/drawingml/2006/main">
              <a:ext uri="{FF2B5EF4-FFF2-40B4-BE49-F238E27FC236}">
                <a16:creationId xmlns:a16="http://schemas.microsoft.com/office/drawing/2014/main" id="{36EE50BE-D82B-E1E1-5863-AFDFAD93FEA6}"/>
              </a:ext>
            </a:extLst>
          </p:cNvPr>
          <p:cNvSpPr>
            <a:spLocks xmlns:a="http://schemas.openxmlformats.org/drawingml/2006/main" noGrp="1"/>
          </p:cNvSpPr>
          <p:nvPr/>
        </p:nvSpPr>
        <p:spPr>
          <a:xfrm xmlns:a="http://schemas.openxmlformats.org/drawingml/2006/main">
            <a:off x="393700" y="2918564"/>
            <a:ext cx="5537200" cy="2923493"/>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R="0" lvl="0">
              <a:lnSpc>
                <a:spcPct val="114000"/>
              </a:lnSpc>
              <a:spcAft>
                <a:spcPts val="800"/>
              </a:spcAft>
              <a:buClrTx/>
              <a:buSzTx/>
              <a:buNone/>
            </a:pPr>
            <a:r>
              <a:t/>
            </a:r>
          </a:p>
        </p:txBody>
      </p:sp>
      <p:sp>
        <p:nvSpPr>
          <p:cNvPr id="535" name="">
            <a:extLst xmlns:a="http://schemas.openxmlformats.org/drawingml/2006/main">
              <a:ext uri="{FF2B5EF4-FFF2-40B4-BE49-F238E27FC236}">
                <a16:creationId xmlns:a16="http://schemas.microsoft.com/office/drawing/2014/main" id="{32D18BD6-EF48-4FA4-992D-6B0DB4EE35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536" name="">
            <a:extLst xmlns:a="http://schemas.openxmlformats.org/drawingml/2006/main">
              <a:ext uri="{FF2B5EF4-FFF2-40B4-BE49-F238E27FC236}">
                <a16:creationId xmlns:a16="http://schemas.microsoft.com/office/drawing/2014/main" id="{78B2C86A-CA7D-4E86-B3D6-A94459BB33BA}"/>
              </a:ext>
            </a:extLst>
          </p:cNvPr>
          <p:cNvSpPr>
            <a:spLocks xmlns:a="http://schemas.openxmlformats.org/drawingml/2006/main" noGrp="1"/>
          </p:cNvSpPr>
          <p:nvPr/>
        </p:nvSpPr>
        <p:spPr>
          <a:xfrm xmlns:a="http://schemas.openxmlformats.org/drawingml/2006/main">
            <a:off x="457200" y="3048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Baseline demand differs sharply by category</a:t>
            </a:r>
          </a:p>
        </p:txBody>
      </p:sp>
      <p:sp>
        <p:nvSpPr>
          <p:cNvPr id="537" name="">
            <a:extLst xmlns:a="http://schemas.openxmlformats.org/drawingml/2006/main">
              <a:ext uri="{FF2B5EF4-FFF2-40B4-BE49-F238E27FC236}">
                <a16:creationId xmlns:a16="http://schemas.microsoft.com/office/drawing/2014/main" id="{DA29F5A0-BFF6-4759-A694-1FBC771F7515}"/>
              </a:ext>
            </a:extLst>
          </p:cNvPr>
          <p:cNvSpPr>
            <a:spLocks xmlns:a="http://schemas.openxmlformats.org/drawingml/2006/main" noGrp="1"/>
          </p:cNvSpPr>
          <p:nvPr/>
        </p:nvSpPr>
        <p:spPr>
          <a:xfrm xmlns:a="http://schemas.openxmlformats.org/drawingml/2006/main">
            <a:off x="476250" y="923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Distribution of quantity sold before promotion across events</a:t>
            </a:r>
          </a:p>
        </p:txBody>
      </p:sp>
      <p:graphicFrame>
        <p:nvGraphicFramePr>
          <p:cNvPr id="559" name="Chart"/>
          <p:cNvGraphicFramePr/>
          <p:nvPr/>
        </p:nvGraphicFramePr>
        <p:xfrm>
          <a:off xmlns:a="http://schemas.openxmlformats.org/drawingml/2006/main" x="428625" y="1524000"/>
          <a:ext xmlns:a="http://schemas.openxmlformats.org/drawingml/2006/main" cx="3524250" cy="1952625"/>
        </p:xfrm>
        <a:graphic xmlns:a="http://schemas.openxmlformats.org/drawingml/2006/main">
          <a:graphicData uri="http://schemas.openxmlformats.org/drawingml/2006/chart">
            <c:chart xmlns:r="http://schemas.openxmlformats.org/officeDocument/2006/relationships" xmlns:c="http://schemas.openxmlformats.org/drawingml/2006/chart" r:id="Rb61a393c22724893"/>
          </a:graphicData>
        </a:graphic>
      </p:graphicFrame>
      <p:sp>
        <p:nvSpPr>
          <p:cNvPr id="539" name="">
            <a:extLst xmlns:a="http://schemas.openxmlformats.org/drawingml/2006/main">
              <a:ext uri="{FF2B5EF4-FFF2-40B4-BE49-F238E27FC236}">
                <a16:creationId xmlns:a16="http://schemas.microsoft.com/office/drawing/2014/main" id="{CA17E606-42FB-438C-BDF5-4544F9522057}"/>
              </a:ext>
            </a:extLst>
          </p:cNvPr>
          <p:cNvSpPr>
            <a:spLocks xmlns:a="http://schemas.openxmlformats.org/drawingml/2006/main" noGrp="1"/>
          </p:cNvSpPr>
          <p:nvPr/>
        </p:nvSpPr>
        <p:spPr>
          <a:xfrm xmlns:a="http://schemas.openxmlformats.org/drawingml/2006/main">
            <a:off x="428625" y="129540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1050" b="1">
                <a:solidFill>
                  <a:srgbClr val="102A43"/>
                </a:solidFill>
                <a:latin typeface="Arial"/>
                <a:ea typeface="Arial"/>
                <a:cs typeface="Arial"/>
              </a:defRPr>
            </a:pPr>
            <a:r>
              <a:rPr sz="1050" b="1">
                <a:solidFill>
                  <a:srgbClr val="102A43"/>
                </a:solidFill>
                <a:latin typeface="Arial"/>
                <a:ea typeface="Arial"/>
                <a:cs typeface="Arial"/>
              </a:rPr>
              <a:t>Grocery &amp; Staples | median 317</a:t>
            </a:r>
          </a:p>
        </p:txBody>
      </p:sp>
      <p:graphicFrame>
        <p:nvGraphicFramePr>
          <p:cNvPr id="561" name="Chart"/>
          <p:cNvGraphicFramePr/>
          <p:nvPr/>
        </p:nvGraphicFramePr>
        <p:xfrm>
          <a:off xmlns:a="http://schemas.openxmlformats.org/drawingml/2006/main" x="4333875" y="1524000"/>
          <a:ext xmlns:a="http://schemas.openxmlformats.org/drawingml/2006/main" cx="3524250" cy="1952625"/>
        </p:xfrm>
        <a:graphic xmlns:a="http://schemas.openxmlformats.org/drawingml/2006/main">
          <a:graphicData uri="http://schemas.openxmlformats.org/drawingml/2006/chart">
            <c:chart xmlns:r="http://schemas.openxmlformats.org/officeDocument/2006/relationships" xmlns:c="http://schemas.openxmlformats.org/drawingml/2006/chart" r:id="Rc7917638a8014a60"/>
          </a:graphicData>
        </a:graphic>
      </p:graphicFrame>
      <p:sp>
        <p:nvSpPr>
          <p:cNvPr id="541" name="">
            <a:extLst xmlns:a="http://schemas.openxmlformats.org/drawingml/2006/main">
              <a:ext uri="{FF2B5EF4-FFF2-40B4-BE49-F238E27FC236}">
                <a16:creationId xmlns:a16="http://schemas.microsoft.com/office/drawing/2014/main" id="{524956E9-66D9-48BE-8ACA-39390E683A70}"/>
              </a:ext>
            </a:extLst>
          </p:cNvPr>
          <p:cNvSpPr>
            <a:spLocks xmlns:a="http://schemas.openxmlformats.org/drawingml/2006/main" noGrp="1"/>
          </p:cNvSpPr>
          <p:nvPr/>
        </p:nvSpPr>
        <p:spPr>
          <a:xfrm xmlns:a="http://schemas.openxmlformats.org/drawingml/2006/main">
            <a:off x="4333875" y="129540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1050" b="1">
                <a:solidFill>
                  <a:srgbClr val="102A43"/>
                </a:solidFill>
                <a:latin typeface="Arial"/>
                <a:ea typeface="Arial"/>
                <a:cs typeface="Arial"/>
              </a:defRPr>
            </a:pPr>
            <a:r>
              <a:rPr sz="1050" b="1">
                <a:solidFill>
                  <a:srgbClr val="102A43"/>
                </a:solidFill>
                <a:latin typeface="Arial"/>
                <a:ea typeface="Arial"/>
                <a:cs typeface="Arial"/>
              </a:rPr>
              <a:t>Combo1 | median 147</a:t>
            </a:r>
          </a:p>
        </p:txBody>
      </p:sp>
      <p:graphicFrame>
        <p:nvGraphicFramePr>
          <p:cNvPr id="563" name="Chart"/>
          <p:cNvGraphicFramePr/>
          <p:nvPr/>
        </p:nvGraphicFramePr>
        <p:xfrm>
          <a:off xmlns:a="http://schemas.openxmlformats.org/drawingml/2006/main" x="8239125" y="1524000"/>
          <a:ext xmlns:a="http://schemas.openxmlformats.org/drawingml/2006/main" cx="3524250" cy="1952625"/>
        </p:xfrm>
        <a:graphic xmlns:a="http://schemas.openxmlformats.org/drawingml/2006/main">
          <a:graphicData uri="http://schemas.openxmlformats.org/drawingml/2006/chart">
            <c:chart xmlns:r="http://schemas.openxmlformats.org/officeDocument/2006/relationships" xmlns:c="http://schemas.openxmlformats.org/drawingml/2006/chart" r:id="Rbbbf9d01ac274de5"/>
          </a:graphicData>
        </a:graphic>
      </p:graphicFrame>
      <p:sp>
        <p:nvSpPr>
          <p:cNvPr id="543" name="">
            <a:extLst xmlns:a="http://schemas.openxmlformats.org/drawingml/2006/main">
              <a:ext uri="{FF2B5EF4-FFF2-40B4-BE49-F238E27FC236}">
                <a16:creationId xmlns:a16="http://schemas.microsoft.com/office/drawing/2014/main" id="{28D09BC8-329C-44FA-8BEB-A621D6703ACA}"/>
              </a:ext>
            </a:extLst>
          </p:cNvPr>
          <p:cNvSpPr>
            <a:spLocks xmlns:a="http://schemas.openxmlformats.org/drawingml/2006/main" noGrp="1"/>
          </p:cNvSpPr>
          <p:nvPr/>
        </p:nvSpPr>
        <p:spPr>
          <a:xfrm xmlns:a="http://schemas.openxmlformats.org/drawingml/2006/main">
            <a:off x="8239125" y="129540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1050" b="1">
                <a:solidFill>
                  <a:srgbClr val="102A43"/>
                </a:solidFill>
                <a:latin typeface="Arial"/>
                <a:ea typeface="Arial"/>
                <a:cs typeface="Arial"/>
              </a:defRPr>
            </a:pPr>
            <a:r>
              <a:rPr sz="1050" b="1">
                <a:solidFill>
                  <a:srgbClr val="102A43"/>
                </a:solidFill>
                <a:latin typeface="Arial"/>
                <a:ea typeface="Arial"/>
                <a:cs typeface="Arial"/>
              </a:rPr>
              <a:t>Home Appliances | median 72</a:t>
            </a:r>
          </a:p>
        </p:txBody>
      </p:sp>
      <p:graphicFrame>
        <p:nvGraphicFramePr>
          <p:cNvPr id="565" name="Chart"/>
          <p:cNvGraphicFramePr/>
          <p:nvPr/>
        </p:nvGraphicFramePr>
        <p:xfrm>
          <a:off xmlns:a="http://schemas.openxmlformats.org/drawingml/2006/main" x="2381250" y="3905250"/>
          <a:ext xmlns:a="http://schemas.openxmlformats.org/drawingml/2006/main" cx="3524250" cy="1952625"/>
        </p:xfrm>
        <a:graphic xmlns:a="http://schemas.openxmlformats.org/drawingml/2006/main">
          <a:graphicData uri="http://schemas.openxmlformats.org/drawingml/2006/chart">
            <c:chart xmlns:r="http://schemas.openxmlformats.org/officeDocument/2006/relationships" xmlns:c="http://schemas.openxmlformats.org/drawingml/2006/chart" r:id="R7f607558926d402a"/>
          </a:graphicData>
        </a:graphic>
      </p:graphicFrame>
      <p:sp>
        <p:nvSpPr>
          <p:cNvPr id="545" name="">
            <a:extLst xmlns:a="http://schemas.openxmlformats.org/drawingml/2006/main">
              <a:ext uri="{FF2B5EF4-FFF2-40B4-BE49-F238E27FC236}">
                <a16:creationId xmlns:a16="http://schemas.microsoft.com/office/drawing/2014/main" id="{6270D105-EAA6-4034-B888-AAC902BE85A3}"/>
              </a:ext>
            </a:extLst>
          </p:cNvPr>
          <p:cNvSpPr>
            <a:spLocks xmlns:a="http://schemas.openxmlformats.org/drawingml/2006/main" noGrp="1"/>
          </p:cNvSpPr>
          <p:nvPr/>
        </p:nvSpPr>
        <p:spPr>
          <a:xfrm xmlns:a="http://schemas.openxmlformats.org/drawingml/2006/main">
            <a:off x="2381250" y="36766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1050" b="1">
                <a:solidFill>
                  <a:srgbClr val="102A43"/>
                </a:solidFill>
                <a:latin typeface="Arial"/>
                <a:ea typeface="Arial"/>
                <a:cs typeface="Arial"/>
              </a:defRPr>
            </a:pPr>
            <a:r>
              <a:rPr sz="1050" b="1">
                <a:solidFill>
                  <a:srgbClr val="102A43"/>
                </a:solidFill>
                <a:latin typeface="Arial"/>
                <a:ea typeface="Arial"/>
                <a:cs typeface="Arial"/>
              </a:rPr>
              <a:t>Personal Care | median 58</a:t>
            </a:r>
          </a:p>
        </p:txBody>
      </p:sp>
      <p:graphicFrame>
        <p:nvGraphicFramePr>
          <p:cNvPr id="567" name="Chart"/>
          <p:cNvGraphicFramePr/>
          <p:nvPr/>
        </p:nvGraphicFramePr>
        <p:xfrm>
          <a:off xmlns:a="http://schemas.openxmlformats.org/drawingml/2006/main" x="6286500" y="3905250"/>
          <a:ext xmlns:a="http://schemas.openxmlformats.org/drawingml/2006/main" cx="3524250" cy="1952625"/>
        </p:xfrm>
        <a:graphic xmlns:a="http://schemas.openxmlformats.org/drawingml/2006/main">
          <a:graphicData uri="http://schemas.openxmlformats.org/drawingml/2006/chart">
            <c:chart xmlns:r="http://schemas.openxmlformats.org/officeDocument/2006/relationships" xmlns:c="http://schemas.openxmlformats.org/drawingml/2006/chart" r:id="R288b66df1fc249ac"/>
          </a:graphicData>
        </a:graphic>
      </p:graphicFrame>
      <p:sp>
        <p:nvSpPr>
          <p:cNvPr id="547" name="">
            <a:extLst xmlns:a="http://schemas.openxmlformats.org/drawingml/2006/main">
              <a:ext uri="{FF2B5EF4-FFF2-40B4-BE49-F238E27FC236}">
                <a16:creationId xmlns:a16="http://schemas.microsoft.com/office/drawing/2014/main" id="{E7327D85-CA6D-4753-B11C-E2B8C8ADBAD6}"/>
              </a:ext>
            </a:extLst>
          </p:cNvPr>
          <p:cNvSpPr>
            <a:spLocks xmlns:a="http://schemas.openxmlformats.org/drawingml/2006/main" noGrp="1"/>
          </p:cNvSpPr>
          <p:nvPr/>
        </p:nvSpPr>
        <p:spPr>
          <a:xfrm xmlns:a="http://schemas.openxmlformats.org/drawingml/2006/main">
            <a:off x="6286500" y="36766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ctr">
              <a:defRPr sz="1050" b="1">
                <a:solidFill>
                  <a:srgbClr val="102A43"/>
                </a:solidFill>
                <a:latin typeface="Arial"/>
                <a:ea typeface="Arial"/>
                <a:cs typeface="Arial"/>
              </a:defRPr>
            </a:pPr>
            <a:r>
              <a:rPr sz="1050" b="1">
                <a:solidFill>
                  <a:srgbClr val="102A43"/>
                </a:solidFill>
                <a:latin typeface="Arial"/>
                <a:ea typeface="Arial"/>
                <a:cs typeface="Arial"/>
              </a:rPr>
              <a:t>Home Care | median 43</a:t>
            </a:r>
          </a:p>
        </p:txBody>
      </p:sp>
      <p:sp>
        <p:nvSpPr>
          <p:cNvPr id="548" name="">
            <a:extLst xmlns:a="http://schemas.openxmlformats.org/drawingml/2006/main">
              <a:ext uri="{FF2B5EF4-FFF2-40B4-BE49-F238E27FC236}">
                <a16:creationId xmlns:a16="http://schemas.microsoft.com/office/drawing/2014/main" id="{BF607515-4792-4CD7-B46E-80A95E69411C}"/>
              </a:ext>
            </a:extLst>
          </p:cNvPr>
          <p:cNvSpPr>
            <a:spLocks xmlns:a="http://schemas.openxmlformats.org/drawingml/2006/main" noGrp="1"/>
          </p:cNvSpPr>
          <p:nvPr/>
        </p:nvSpPr>
        <p:spPr>
          <a:xfrm xmlns:a="http://schemas.openxmlformats.org/drawingml/2006/main">
            <a:off x="457200" y="6496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26579"/>
                </a:solidFill>
                <a:latin typeface="Arial"/>
                <a:ea typeface="Arial"/>
                <a:cs typeface="Arial"/>
              </a:defRPr>
            </a:pPr>
            <a:r>
              <a:rPr sz="900" b="0">
                <a:solidFill>
                  <a:srgbClr val="526579"/>
                </a:solidFill>
                <a:latin typeface="Arial"/>
                <a:ea typeface="Arial"/>
                <a:cs typeface="Arial"/>
              </a:rPr>
              <a:t>Retail Promotions Analysis</a:t>
            </a:r>
          </a:p>
        </p:txBody>
      </p:sp>
      <p:sp>
        <p:nvSpPr>
          <p:cNvPr id="549" name="">
            <a:extLst xmlns:a="http://schemas.openxmlformats.org/drawingml/2006/main">
              <a:ext uri="{FF2B5EF4-FFF2-40B4-BE49-F238E27FC236}">
                <a16:creationId xmlns:a16="http://schemas.microsoft.com/office/drawing/2014/main" id="{B0A8BF40-1055-45F7-AA89-3E8184596FA8}"/>
              </a:ext>
            </a:extLst>
          </p:cNvPr>
          <p:cNvSpPr>
            <a:spLocks xmlns:a="http://schemas.openxmlformats.org/drawingml/2006/main" noGrp="1"/>
          </p:cNvSpPr>
          <p:nvPr/>
        </p:nvSpPr>
        <p:spPr>
          <a:xfrm xmlns:a="http://schemas.openxmlformats.org/drawingml/2006/main">
            <a:off x="11191875"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26579"/>
                </a:solidFill>
                <a:latin typeface="Arial"/>
                <a:ea typeface="Arial"/>
                <a:cs typeface="Arial"/>
              </a:defRPr>
            </a:pPr>
            <a:r>
              <a:rPr sz="900" b="0">
                <a:solidFill>
                  <a:srgbClr val="526579"/>
                </a:solidFill>
                <a:latin typeface="Arial"/>
                <a:ea typeface="Arial"/>
                <a:cs typeface="Arial"/>
              </a:rPr>
              <a:t>6</a:t>
            </a:r>
          </a:p>
        </p:txBody>
      </p:sp>
    </p:spTree>
    <p:extLst>
      <p:ext uri="{BB962C8B-B14F-4D97-AF65-F5344CB8AC3E}">
        <p14:creationId xmlns:p14="http://schemas.microsoft.com/office/powerpoint/2010/main" val="32456707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
            </a: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69ADA83D-DF77-AA76-6DA0-7A70CD7A4D20}" type="slidenum">
              <a:rPr>
                <a:solidFill>
                  <a:schemeClr val="bg1">
                    <a:lumMod val="65000"/>
                    <a:lumOff val="35000"/>
                  </a:schemeClr>
                </a:solidFill>
              </a:rPr>
              <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3700" y="344008"/>
            <a:ext cx="55372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
            </a:r>
          </a:p>
        </p:txBody>
      </p:sp>
      <p:pic>
        <p:nvPicPr>
          <p:cNvPr id="547" name="Picture 3"/>
          <p:cNvPicPr>
            <a:picLocks xmlns:a="http://schemas.openxmlformats.org/drawingml/2006/main" noChangeAspect="1"/>
          </p:cNvPicPr>
          <p:nvPr/>
        </p:nvPicPr>
        <p:blipFill>
          <a:blip xmlns:r="http://schemas.openxmlformats.org/officeDocument/2006/relationships" xmlns:a="http://schemas.openxmlformats.org/drawingml/2006/main" r:embed="R2b527bf1178240d3"/>
          <a:srcRect xmlns:a="http://schemas.openxmlformats.org/drawingml/2006/main" l="5428" t="29168" r="0" b="23013"/>
          <a:stretch xmlns:a="http://schemas.openxmlformats.org/drawingml/2006/main">
            <a:fillRect l="0" t="0" r="0" b="0"/>
          </a:stretch>
        </p:blipFill>
        <p:spPr>
          <a:xfrm xmlns:a="http://schemas.openxmlformats.org/drawingml/2006/main">
            <a:off x="6269040" y="396409"/>
            <a:ext cx="5539740" cy="5602070"/>
          </a:xfrm>
          <a:prstGeom xmlns:a="http://schemas.openxmlformats.org/drawingml/2006/main" prst="roundRect">
            <a:avLst>
              <a:gd name="adj" fmla="val 1361"/>
            </a:avLst>
          </a:prstGeom>
        </p:spPr>
      </p:pic>
      <p:sp>
        <p:nvSpPr>
          <p:cNvPr id="2" name="Google Shape;534;p58">
            <a:extLst xmlns:a="http://schemas.openxmlformats.org/drawingml/2006/main">
              <a:ext uri="{FF2B5EF4-FFF2-40B4-BE49-F238E27FC236}">
                <a16:creationId xmlns:a16="http://schemas.microsoft.com/office/drawing/2014/main" id="{C5A7115C-83FA-26C1-A475-11085626EA00}"/>
              </a:ext>
            </a:extLst>
          </p:cNvPr>
          <p:cNvSpPr>
            <a:spLocks xmlns:a="http://schemas.openxmlformats.org/drawingml/2006/main" noGrp="1"/>
          </p:cNvSpPr>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FF4305"/>
                </a:solidFill>
              </a:rPr>
              <a:t/>
            </a:r>
            <a:endParaRPr>
              <a:solidFill>
                <a:srgbClr val="FF4305"/>
              </a:solidFill>
            </a:endParaRPr>
          </a:p>
        </p:txBody>
      </p:sp>
      <p:sp>
        <p:nvSpPr>
          <p:cNvPr id="3" name="TextBox 2">
            <a:extLst xmlns:a="http://schemas.openxmlformats.org/drawingml/2006/main">
              <a:ext uri="{FF2B5EF4-FFF2-40B4-BE49-F238E27FC236}">
                <a16:creationId xmlns:a16="http://schemas.microsoft.com/office/drawing/2014/main" id="{36EE50BE-D82B-E1E1-5863-AFDFAD93FEA6}"/>
              </a:ext>
            </a:extLst>
          </p:cNvPr>
          <p:cNvSpPr>
            <a:spLocks xmlns:a="http://schemas.openxmlformats.org/drawingml/2006/main" noGrp="1"/>
          </p:cNvSpPr>
          <p:nvPr/>
        </p:nvSpPr>
        <p:spPr>
          <a:xfrm xmlns:a="http://schemas.openxmlformats.org/drawingml/2006/main">
            <a:off x="393700" y="2918564"/>
            <a:ext cx="5537200" cy="2923493"/>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R="0" lvl="0">
              <a:lnSpc>
                <a:spcPct val="114000"/>
              </a:lnSpc>
              <a:spcAft>
                <a:spcPts val="800"/>
              </a:spcAft>
              <a:buClrTx/>
              <a:buSzTx/>
              <a:buNone/>
            </a:pPr>
            <a:r>
              <a:t/>
            </a:r>
          </a:p>
        </p:txBody>
      </p:sp>
      <p:sp>
        <p:nvSpPr>
          <p:cNvPr id="535" name="">
            <a:extLst xmlns:a="http://schemas.openxmlformats.org/drawingml/2006/main">
              <a:ext uri="{FF2B5EF4-FFF2-40B4-BE49-F238E27FC236}">
                <a16:creationId xmlns:a16="http://schemas.microsoft.com/office/drawing/2014/main" id="{848D03A3-1991-48C1-BBC9-09C7B11D1D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536" name="">
            <a:extLst xmlns:a="http://schemas.openxmlformats.org/drawingml/2006/main">
              <a:ext uri="{FF2B5EF4-FFF2-40B4-BE49-F238E27FC236}">
                <a16:creationId xmlns:a16="http://schemas.microsoft.com/office/drawing/2014/main" id="{462B6DCD-AD45-4AE9-BC06-C36777DA16AB}"/>
              </a:ext>
            </a:extLst>
          </p:cNvPr>
          <p:cNvSpPr>
            <a:spLocks xmlns:a="http://schemas.openxmlformats.org/drawingml/2006/main" noGrp="1"/>
          </p:cNvSpPr>
          <p:nvPr/>
        </p:nvSpPr>
        <p:spPr>
          <a:xfrm xmlns:a="http://schemas.openxmlformats.org/drawingml/2006/main">
            <a:off x="457200" y="3048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Madurai records the strongest increase in sold units</a:t>
            </a:r>
          </a:p>
        </p:txBody>
      </p:sp>
      <p:sp>
        <p:nvSpPr>
          <p:cNvPr id="537" name="">
            <a:extLst xmlns:a="http://schemas.openxmlformats.org/drawingml/2006/main">
              <a:ext uri="{FF2B5EF4-FFF2-40B4-BE49-F238E27FC236}">
                <a16:creationId xmlns:a16="http://schemas.microsoft.com/office/drawing/2014/main" id="{82CB6393-454F-4C1A-8487-4279186ED976}"/>
              </a:ext>
            </a:extLst>
          </p:cNvPr>
          <p:cNvSpPr>
            <a:spLocks xmlns:a="http://schemas.openxmlformats.org/drawingml/2006/main" noGrp="1"/>
          </p:cNvSpPr>
          <p:nvPr/>
        </p:nvSpPr>
        <p:spPr>
          <a:xfrm xmlns:a="http://schemas.openxmlformats.org/drawingml/2006/main">
            <a:off x="476250" y="923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ISU% compares aggregate units before and after promotion within each city</a:t>
            </a:r>
          </a:p>
        </p:txBody>
      </p:sp>
      <p:graphicFrame>
        <p:nvGraphicFramePr>
          <p:cNvPr id="553" name="Chart"/>
          <p:cNvGraphicFramePr/>
          <p:nvPr/>
        </p:nvGraphicFramePr>
        <p:xfrm>
          <a:off xmlns:a="http://schemas.openxmlformats.org/drawingml/2006/main" x="666750" y="1571625"/>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26e1700bbada4379"/>
          </a:graphicData>
        </a:graphic>
      </p:graphicFrame>
      <p:sp>
        <p:nvSpPr>
          <p:cNvPr id="539" name="">
            <a:extLst xmlns:a="http://schemas.openxmlformats.org/drawingml/2006/main">
              <a:ext uri="{FF2B5EF4-FFF2-40B4-BE49-F238E27FC236}">
                <a16:creationId xmlns:a16="http://schemas.microsoft.com/office/drawing/2014/main" id="{09391D9D-1EA0-475B-BF59-A6B1FCA2BBA8}"/>
              </a:ext>
            </a:extLst>
          </p:cNvPr>
          <p:cNvSpPr>
            <a:spLocks xmlns:a="http://schemas.openxmlformats.org/drawingml/2006/main" noGrp="1"/>
          </p:cNvSpPr>
          <p:nvPr/>
        </p:nvSpPr>
        <p:spPr>
          <a:xfrm xmlns:a="http://schemas.openxmlformats.org/drawingml/2006/main">
            <a:off x="9239250" y="21431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8A999"/>
                </a:solidFill>
                <a:latin typeface="Arial"/>
                <a:ea typeface="Arial"/>
                <a:cs typeface="Arial"/>
              </a:defRPr>
            </a:pPr>
            <a:r>
              <a:rPr sz="3300" b="1">
                <a:solidFill>
                  <a:srgbClr val="18A999"/>
                </a:solidFill>
                <a:latin typeface="Arial"/>
                <a:ea typeface="Arial"/>
                <a:cs typeface="Arial"/>
              </a:rPr>
              <a:t>121.28%</a:t>
            </a:r>
          </a:p>
        </p:txBody>
      </p:sp>
      <p:sp>
        <p:nvSpPr>
          <p:cNvPr id="540" name="">
            <a:extLst xmlns:a="http://schemas.openxmlformats.org/drawingml/2006/main">
              <a:ext uri="{FF2B5EF4-FFF2-40B4-BE49-F238E27FC236}">
                <a16:creationId xmlns:a16="http://schemas.microsoft.com/office/drawing/2014/main" id="{9F734F6F-9162-40C9-98E8-A6EBE6B2284B}"/>
              </a:ext>
            </a:extLst>
          </p:cNvPr>
          <p:cNvSpPr>
            <a:spLocks xmlns:a="http://schemas.openxmlformats.org/drawingml/2006/main" noGrp="1"/>
          </p:cNvSpPr>
          <p:nvPr/>
        </p:nvSpPr>
        <p:spPr>
          <a:xfrm xmlns:a="http://schemas.openxmlformats.org/drawingml/2006/main">
            <a:off x="9239250" y="290512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02A43"/>
                </a:solidFill>
                <a:latin typeface="Arial"/>
                <a:ea typeface="Arial"/>
                <a:cs typeface="Arial"/>
              </a:defRPr>
            </a:pPr>
            <a:r>
              <a:rPr sz="1650" b="1">
                <a:solidFill>
                  <a:srgbClr val="102A43"/>
                </a:solidFill>
                <a:latin typeface="Arial"/>
                <a:ea typeface="Arial"/>
                <a:cs typeface="Arial"/>
              </a:rPr>
              <a:t>Madurai</a:t>
            </a:r>
          </a:p>
        </p:txBody>
      </p:sp>
      <p:sp>
        <p:nvSpPr>
          <p:cNvPr id="541" name="">
            <a:extLst xmlns:a="http://schemas.openxmlformats.org/drawingml/2006/main">
              <a:ext uri="{FF2B5EF4-FFF2-40B4-BE49-F238E27FC236}">
                <a16:creationId xmlns:a16="http://schemas.microsoft.com/office/drawing/2014/main" id="{B0E94700-1129-4F8A-8543-4D064526EB0D}"/>
              </a:ext>
            </a:extLst>
          </p:cNvPr>
          <p:cNvSpPr>
            <a:spLocks xmlns:a="http://schemas.openxmlformats.org/drawingml/2006/main" noGrp="1"/>
          </p:cNvSpPr>
          <p:nvPr/>
        </p:nvSpPr>
        <p:spPr>
          <a:xfrm xmlns:a="http://schemas.openxmlformats.org/drawingml/2006/main">
            <a:off x="9096375" y="3571875"/>
            <a:ext cx="257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26579"/>
                </a:solidFill>
                <a:latin typeface="Arial"/>
                <a:ea typeface="Arial"/>
                <a:cs typeface="Arial"/>
              </a:defRPr>
            </a:pPr>
            <a:r>
              <a:rPr sz="1350" b="0">
                <a:solidFill>
                  <a:srgbClr val="526579"/>
                </a:solidFill>
                <a:latin typeface="Arial"/>
                <a:ea typeface="Arial"/>
                <a:cs typeface="Arial"/>
              </a:rPr>
              <a:t>Visakhapatnam had the smallest increase at 99.07%. Promotions lifted units in every city, but effectiveness varied by 22.21 percentage points.</a:t>
            </a:r>
          </a:p>
        </p:txBody>
      </p:sp>
      <p:sp>
        <p:nvSpPr>
          <p:cNvPr id="542" name="">
            <a:extLst xmlns:a="http://schemas.openxmlformats.org/drawingml/2006/main">
              <a:ext uri="{FF2B5EF4-FFF2-40B4-BE49-F238E27FC236}">
                <a16:creationId xmlns:a16="http://schemas.microsoft.com/office/drawing/2014/main" id="{25323789-BB54-4D2C-9908-70020FB3821B}"/>
              </a:ext>
            </a:extLst>
          </p:cNvPr>
          <p:cNvSpPr>
            <a:spLocks xmlns:a="http://schemas.openxmlformats.org/drawingml/2006/main" noGrp="1"/>
          </p:cNvSpPr>
          <p:nvPr/>
        </p:nvSpPr>
        <p:spPr>
          <a:xfrm xmlns:a="http://schemas.openxmlformats.org/drawingml/2006/main">
            <a:off x="457200" y="6496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26579"/>
                </a:solidFill>
                <a:latin typeface="Arial"/>
                <a:ea typeface="Arial"/>
                <a:cs typeface="Arial"/>
              </a:defRPr>
            </a:pPr>
            <a:r>
              <a:rPr sz="900" b="0">
                <a:solidFill>
                  <a:srgbClr val="526579"/>
                </a:solidFill>
                <a:latin typeface="Arial"/>
                <a:ea typeface="Arial"/>
                <a:cs typeface="Arial"/>
              </a:rPr>
              <a:t>Retail Promotions Analysis</a:t>
            </a:r>
          </a:p>
        </p:txBody>
      </p:sp>
      <p:sp>
        <p:nvSpPr>
          <p:cNvPr id="543" name="">
            <a:extLst xmlns:a="http://schemas.openxmlformats.org/drawingml/2006/main">
              <a:ext uri="{FF2B5EF4-FFF2-40B4-BE49-F238E27FC236}">
                <a16:creationId xmlns:a16="http://schemas.microsoft.com/office/drawing/2014/main" id="{5CFBC5F9-DBBA-4A34-BBFA-9E6C69372AB8}"/>
              </a:ext>
            </a:extLst>
          </p:cNvPr>
          <p:cNvSpPr>
            <a:spLocks xmlns:a="http://schemas.openxmlformats.org/drawingml/2006/main" noGrp="1"/>
          </p:cNvSpPr>
          <p:nvPr/>
        </p:nvSpPr>
        <p:spPr>
          <a:xfrm xmlns:a="http://schemas.openxmlformats.org/drawingml/2006/main">
            <a:off x="11191875"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26579"/>
                </a:solidFill>
                <a:latin typeface="Arial"/>
                <a:ea typeface="Arial"/>
                <a:cs typeface="Arial"/>
              </a:defRPr>
            </a:pPr>
            <a:r>
              <a:rPr sz="900" b="0">
                <a:solidFill>
                  <a:srgbClr val="526579"/>
                </a:solidFill>
                <a:latin typeface="Arial"/>
                <a:ea typeface="Arial"/>
                <a:cs typeface="Arial"/>
              </a:rPr>
              <a:t>7</a:t>
            </a:r>
          </a:p>
        </p:txBody>
      </p:sp>
    </p:spTree>
    <p:extLst>
      <p:ext uri="{BB962C8B-B14F-4D97-AF65-F5344CB8AC3E}">
        <p14:creationId xmlns:p14="http://schemas.microsoft.com/office/powerpoint/2010/main" val="32456707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
            </a: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69ADA83D-DF77-AA76-6DA0-7A70CD7A4D20}" type="slidenum">
              <a:rPr>
                <a:solidFill>
                  <a:schemeClr val="bg1">
                    <a:lumMod val="65000"/>
                    <a:lumOff val="35000"/>
                  </a:schemeClr>
                </a:solidFill>
              </a:rPr>
              <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3700" y="172243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a:solidFill>
                  <a:srgbClr val="FF4305"/>
                </a:solidFill>
              </a:rPr>
              <a:t/>
            </a:r>
            <a:endParaRPr>
              <a:solidFill>
                <a:srgbClr val="FF4305"/>
              </a:solidFill>
            </a:endParaRPr>
          </a:p>
        </p:txBody>
      </p:sp>
      <p:sp>
        <p:nvSpPr>
          <p:cNvPr id="2" name="Content Placeholder 10">
            <a:extLst xmlns:a="http://schemas.openxmlformats.org/drawingml/2006/main">
              <a:ext uri="{FF2B5EF4-FFF2-40B4-BE49-F238E27FC236}">
                <a16:creationId xmlns:a16="http://schemas.microsoft.com/office/drawing/2014/main" id="{F1357382-F889-8A40-7C64-C4E276E66544}"/>
              </a:ext>
            </a:extLst>
          </p:cNvPr>
          <p:cNvSpPr>
            <a:spLocks xmlns:a="http://schemas.openxmlformats.org/drawingml/2006/main" noGrp="1"/>
          </p:cNvSpPr>
          <p:nvPr/>
        </p:nvSpPr>
        <p:spPr>
          <a:xfrm xmlns:a="http://schemas.openxmlformats.org/drawingml/2006/main">
            <a:off x="7886700" y="2990317"/>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
            </a:r>
          </a:p>
        </p:txBody>
      </p:sp>
      <p:sp>
        <p:nvSpPr>
          <p:cNvPr id="3" name="Google Shape;340;p61">
            <a:extLst xmlns:a="http://schemas.openxmlformats.org/drawingml/2006/main">
              <a:ext uri="{FF2B5EF4-FFF2-40B4-BE49-F238E27FC236}">
                <a16:creationId xmlns:a16="http://schemas.microsoft.com/office/drawing/2014/main" id="{DECE1942-1885-9577-DF5F-685A8B1C7180}"/>
              </a:ext>
            </a:extLst>
          </p:cNvPr>
          <p:cNvSpPr>
            <a:spLocks xmlns:a="http://schemas.openxmlformats.org/drawingml/2006/main" noGrp="1"/>
          </p:cNvSpPr>
          <p:nvPr/>
        </p:nvSpPr>
        <p:spPr>
          <a:xfrm xmlns:a="http://schemas.openxmlformats.org/drawingml/2006/main">
            <a:off x="7507725" y="3015150"/>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r>
              <a:t/>
            </a:r>
            <a:endParaRPr sz="2400">
              <a:solidFill>
                <a:srgbClr val="FFFFFF"/>
              </a:solidFill>
              <a:latin typeface="Helvetica Neue"/>
              <a:ea typeface="Helvetica Neue"/>
              <a:cs typeface="Helvetica Neue"/>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3700" y="2918564"/>
            <a:ext cx="5537200" cy="2923493"/>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R="0" lvl="0">
              <a:lnSpc>
                <a:spcPct val="114000"/>
              </a:lnSpc>
              <a:spcAft>
                <a:spcPts val="800"/>
              </a:spcAft>
              <a:buClrTx/>
              <a:buSzTx/>
              <a:buNone/>
            </a:pPr>
            <a:r>
              <a:t/>
            </a:r>
          </a:p>
        </p:txBody>
      </p:sp>
      <p:sp>
        <p:nvSpPr>
          <p:cNvPr id="16" name="Content Placeholder 10">
            <a:extLst xmlns:a="http://schemas.openxmlformats.org/drawingml/2006/main">
              <a:ext uri="{FF2B5EF4-FFF2-40B4-BE49-F238E27FC236}">
                <a16:creationId xmlns:a16="http://schemas.microsoft.com/office/drawing/2014/main" id="{01B260BF-9264-3C70-DF2D-2E6EA83AC133}"/>
              </a:ext>
            </a:extLst>
          </p:cNvPr>
          <p:cNvSpPr>
            <a:spLocks xmlns:a="http://schemas.openxmlformats.org/drawingml/2006/main" noGrp="1"/>
          </p:cNvSpPr>
          <p:nvPr/>
        </p:nvSpPr>
        <p:spPr>
          <a:xfrm xmlns:a="http://schemas.openxmlformats.org/drawingml/2006/main">
            <a:off x="7886700" y="3599916"/>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
            </a:r>
          </a:p>
        </p:txBody>
      </p:sp>
      <p:sp>
        <p:nvSpPr>
          <p:cNvPr id="17" name="Google Shape;340;p61">
            <a:extLst xmlns:a="http://schemas.openxmlformats.org/drawingml/2006/main">
              <a:ext uri="{FF2B5EF4-FFF2-40B4-BE49-F238E27FC236}">
                <a16:creationId xmlns:a16="http://schemas.microsoft.com/office/drawing/2014/main" id="{A6CF1E9A-BF4C-E7B2-D556-8AB5FB2B65F0}"/>
              </a:ext>
            </a:extLst>
          </p:cNvPr>
          <p:cNvSpPr>
            <a:spLocks xmlns:a="http://schemas.openxmlformats.org/drawingml/2006/main" noGrp="1"/>
          </p:cNvSpPr>
          <p:nvPr/>
        </p:nvSpPr>
        <p:spPr>
          <a:xfrm xmlns:a="http://schemas.openxmlformats.org/drawingml/2006/main">
            <a:off x="7507725" y="3624749"/>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r>
              <a:t/>
            </a:r>
            <a:endParaRPr sz="2400">
              <a:solidFill>
                <a:srgbClr val="FFFFFF"/>
              </a:solidFill>
              <a:latin typeface="Helvetica Neue"/>
              <a:ea typeface="Helvetica Neue"/>
              <a:cs typeface="Helvetica Neue"/>
            </a:endParaRPr>
          </a:p>
        </p:txBody>
      </p:sp>
      <p:sp>
        <p:nvSpPr>
          <p:cNvPr id="18" name="Content Placeholder 10">
            <a:extLst xmlns:a="http://schemas.openxmlformats.org/drawingml/2006/main">
              <a:ext uri="{FF2B5EF4-FFF2-40B4-BE49-F238E27FC236}">
                <a16:creationId xmlns:a16="http://schemas.microsoft.com/office/drawing/2014/main" id="{FE696631-18B5-8115-E5AD-ACCFD6221418}"/>
              </a:ext>
            </a:extLst>
          </p:cNvPr>
          <p:cNvSpPr>
            <a:spLocks xmlns:a="http://schemas.openxmlformats.org/drawingml/2006/main" noGrp="1"/>
          </p:cNvSpPr>
          <p:nvPr/>
        </p:nvSpPr>
        <p:spPr>
          <a:xfrm xmlns:a="http://schemas.openxmlformats.org/drawingml/2006/main">
            <a:off x="7886700" y="4214765"/>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
            </a:r>
          </a:p>
        </p:txBody>
      </p:sp>
      <p:sp>
        <p:nvSpPr>
          <p:cNvPr id="19" name="Google Shape;340;p61">
            <a:extLst xmlns:a="http://schemas.openxmlformats.org/drawingml/2006/main">
              <a:ext uri="{FF2B5EF4-FFF2-40B4-BE49-F238E27FC236}">
                <a16:creationId xmlns:a16="http://schemas.microsoft.com/office/drawing/2014/main" id="{6ECBDA1E-6C7D-6B0F-A430-DF8A0965C58D}"/>
              </a:ext>
            </a:extLst>
          </p:cNvPr>
          <p:cNvSpPr>
            <a:spLocks xmlns:a="http://schemas.openxmlformats.org/drawingml/2006/main" noGrp="1"/>
          </p:cNvSpPr>
          <p:nvPr/>
        </p:nvSpPr>
        <p:spPr>
          <a:xfrm xmlns:a="http://schemas.openxmlformats.org/drawingml/2006/main">
            <a:off x="7507725" y="4239598"/>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r>
              <a:t/>
            </a:r>
            <a:endParaRPr sz="2400">
              <a:solidFill>
                <a:srgbClr val="FFFFFF"/>
              </a:solidFill>
              <a:latin typeface="Helvetica Neue"/>
              <a:ea typeface="Helvetica Neue"/>
              <a:cs typeface="Helvetica Neue"/>
            </a:endParaRPr>
          </a:p>
        </p:txBody>
      </p:sp>
      <p:sp>
        <p:nvSpPr>
          <p:cNvPr id="20" name="Content Placeholder 10">
            <a:extLst xmlns:a="http://schemas.openxmlformats.org/drawingml/2006/main">
              <a:ext uri="{FF2B5EF4-FFF2-40B4-BE49-F238E27FC236}">
                <a16:creationId xmlns:a16="http://schemas.microsoft.com/office/drawing/2014/main" id="{9FC4B09F-4593-687E-52A3-7E683F7FE9E4}"/>
              </a:ext>
            </a:extLst>
          </p:cNvPr>
          <p:cNvSpPr>
            <a:spLocks xmlns:a="http://schemas.openxmlformats.org/drawingml/2006/main" noGrp="1"/>
          </p:cNvSpPr>
          <p:nvPr/>
        </p:nvSpPr>
        <p:spPr>
          <a:xfrm xmlns:a="http://schemas.openxmlformats.org/drawingml/2006/main">
            <a:off x="7886700" y="4824364"/>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
            </a:r>
          </a:p>
        </p:txBody>
      </p:sp>
      <p:sp>
        <p:nvSpPr>
          <p:cNvPr id="21" name="Google Shape;340;p61">
            <a:extLst xmlns:a="http://schemas.openxmlformats.org/drawingml/2006/main">
              <a:ext uri="{FF2B5EF4-FFF2-40B4-BE49-F238E27FC236}">
                <a16:creationId xmlns:a16="http://schemas.microsoft.com/office/drawing/2014/main" id="{006032E6-DDFC-FA22-4D08-3BFFC755BB8D}"/>
              </a:ext>
            </a:extLst>
          </p:cNvPr>
          <p:cNvSpPr>
            <a:spLocks xmlns:a="http://schemas.openxmlformats.org/drawingml/2006/main" noGrp="1"/>
          </p:cNvSpPr>
          <p:nvPr/>
        </p:nvSpPr>
        <p:spPr>
          <a:xfrm xmlns:a="http://schemas.openxmlformats.org/drawingml/2006/main">
            <a:off x="7507725" y="48491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r>
              <a:t/>
            </a:r>
            <a:endParaRPr sz="2400">
              <a:solidFill>
                <a:srgbClr val="FFFFFF"/>
              </a:solidFill>
              <a:latin typeface="Helvetica Neue"/>
              <a:ea typeface="Helvetica Neue"/>
              <a:cs typeface="Helvetica Neue"/>
            </a:endParaRPr>
          </a:p>
        </p:txBody>
      </p:sp>
      <p:sp>
        <p:nvSpPr>
          <p:cNvPr id="23" name="Content Placeholder 10">
            <a:extLst xmlns:a="http://schemas.openxmlformats.org/drawingml/2006/main">
              <a:ext uri="{FF2B5EF4-FFF2-40B4-BE49-F238E27FC236}">
                <a16:creationId xmlns:a16="http://schemas.microsoft.com/office/drawing/2014/main" id="{EDAB1F81-E12B-29DC-E09F-27F129E42AE8}"/>
              </a:ext>
            </a:extLst>
          </p:cNvPr>
          <p:cNvSpPr>
            <a:spLocks xmlns:a="http://schemas.openxmlformats.org/drawingml/2006/main" noGrp="1"/>
          </p:cNvSpPr>
          <p:nvPr/>
        </p:nvSpPr>
        <p:spPr>
          <a:xfrm xmlns:a="http://schemas.openxmlformats.org/drawingml/2006/main">
            <a:off x="7886700" y="5446664"/>
            <a:ext cx="3911600" cy="54875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600"/>
              <a:t/>
            </a:r>
          </a:p>
        </p:txBody>
      </p:sp>
      <p:sp>
        <p:nvSpPr>
          <p:cNvPr id="24" name="Google Shape;340;p61">
            <a:extLst xmlns:a="http://schemas.openxmlformats.org/drawingml/2006/main">
              <a:ext uri="{FF2B5EF4-FFF2-40B4-BE49-F238E27FC236}">
                <a16:creationId xmlns:a16="http://schemas.microsoft.com/office/drawing/2014/main" id="{A052337A-4696-49F7-A089-E21DA71AD3B2}"/>
              </a:ext>
            </a:extLst>
          </p:cNvPr>
          <p:cNvSpPr>
            <a:spLocks xmlns:a="http://schemas.openxmlformats.org/drawingml/2006/main" noGrp="1"/>
          </p:cNvSpPr>
          <p:nvPr/>
        </p:nvSpPr>
        <p:spPr>
          <a:xfrm xmlns:a="http://schemas.openxmlformats.org/drawingml/2006/main">
            <a:off x="7507725" y="5471497"/>
            <a:ext cx="212551" cy="212470"/>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rgbClr val="FF4709"/>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r>
              <a:t/>
            </a:r>
            <a:endParaRPr sz="2400">
              <a:solidFill>
                <a:srgbClr val="FFFFFF"/>
              </a:solidFill>
              <a:latin typeface="Helvetica Neue"/>
              <a:ea typeface="Helvetica Neue"/>
              <a:cs typeface="Helvetica Neue"/>
            </a:endParaRPr>
          </a:p>
        </p:txBody>
      </p:sp>
      <p:sp>
        <p:nvSpPr>
          <p:cNvPr id="535" name="">
            <a:extLst xmlns:a="http://schemas.openxmlformats.org/drawingml/2006/main">
              <a:ext uri="{FF2B5EF4-FFF2-40B4-BE49-F238E27FC236}">
                <a16:creationId xmlns:a16="http://schemas.microsoft.com/office/drawing/2014/main" id="{E9A70EF0-58DD-438C-8461-E65975BEE6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536" name="">
            <a:extLst xmlns:a="http://schemas.openxmlformats.org/drawingml/2006/main">
              <a:ext uri="{FF2B5EF4-FFF2-40B4-BE49-F238E27FC236}">
                <a16:creationId xmlns:a16="http://schemas.microsoft.com/office/drawing/2014/main" id="{C879B3C3-CF41-4E63-9A8A-A327AF170F24}"/>
              </a:ext>
            </a:extLst>
          </p:cNvPr>
          <p:cNvSpPr>
            <a:spLocks xmlns:a="http://schemas.openxmlformats.org/drawingml/2006/main" noGrp="1"/>
          </p:cNvSpPr>
          <p:nvPr/>
        </p:nvSpPr>
        <p:spPr>
          <a:xfrm xmlns:a="http://schemas.openxmlformats.org/drawingml/2006/main">
            <a:off x="457200" y="3048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Hyderabad shows a clear volume and revenue trade-off</a:t>
            </a:r>
          </a:p>
        </p:txBody>
      </p:sp>
      <p:sp>
        <p:nvSpPr>
          <p:cNvPr id="537" name="">
            <a:extLst xmlns:a="http://schemas.openxmlformats.org/drawingml/2006/main">
              <a:ext uri="{FF2B5EF4-FFF2-40B4-BE49-F238E27FC236}">
                <a16:creationId xmlns:a16="http://schemas.microsoft.com/office/drawing/2014/main" id="{0606A2EB-60B4-4A41-A939-30695D483DA0}"/>
              </a:ext>
            </a:extLst>
          </p:cNvPr>
          <p:cNvSpPr>
            <a:spLocks xmlns:a="http://schemas.openxmlformats.org/drawingml/2006/main" noGrp="1"/>
          </p:cNvSpPr>
          <p:nvPr/>
        </p:nvSpPr>
        <p:spPr>
          <a:xfrm xmlns:a="http://schemas.openxmlformats.org/drawingml/2006/main">
            <a:off x="476250" y="923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BOGOF leads incremental units while 500 Cashback leads incremental revenue</a:t>
            </a:r>
          </a:p>
        </p:txBody>
      </p:sp>
      <p:graphicFrame>
        <p:nvGraphicFramePr>
          <p:cNvPr id="563" name="Chart"/>
          <p:cNvGraphicFramePr/>
          <p:nvPr/>
        </p:nvGraphicFramePr>
        <p:xfrm>
          <a:off xmlns:a="http://schemas.openxmlformats.org/drawingml/2006/main" x="619125" y="1571625"/>
          <a:ext xmlns:a="http://schemas.openxmlformats.org/drawingml/2006/main" cx="7620000" cy="4286250"/>
        </p:xfrm>
        <a:graphic xmlns:a="http://schemas.openxmlformats.org/drawingml/2006/main">
          <a:graphicData uri="http://schemas.openxmlformats.org/drawingml/2006/chart">
            <c:chart xmlns:r="http://schemas.openxmlformats.org/officeDocument/2006/relationships" xmlns:c="http://schemas.openxmlformats.org/drawingml/2006/chart" r:id="R6cea821b44c24e7e"/>
          </a:graphicData>
        </a:graphic>
      </p:graphicFrame>
      <p:sp>
        <p:nvSpPr>
          <p:cNvPr id="539" name="">
            <a:extLst xmlns:a="http://schemas.openxmlformats.org/drawingml/2006/main">
              <a:ext uri="{FF2B5EF4-FFF2-40B4-BE49-F238E27FC236}">
                <a16:creationId xmlns:a16="http://schemas.microsoft.com/office/drawing/2014/main" id="{F86CB34F-669C-409A-99EC-FF74093A84B9}"/>
              </a:ext>
            </a:extLst>
          </p:cNvPr>
          <p:cNvSpPr>
            <a:spLocks xmlns:a="http://schemas.openxmlformats.org/drawingml/2006/main" noGrp="1"/>
          </p:cNvSpPr>
          <p:nvPr/>
        </p:nvSpPr>
        <p:spPr>
          <a:xfrm xmlns:a="http://schemas.openxmlformats.org/drawingml/2006/main">
            <a:off x="8810625" y="1952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2F6BFF"/>
                </a:solidFill>
                <a:latin typeface="Arial"/>
                <a:ea typeface="Arial"/>
                <a:cs typeface="Arial"/>
              </a:defRPr>
            </a:pPr>
            <a:r>
              <a:rPr sz="2850" b="1">
                <a:solidFill>
                  <a:srgbClr val="2F6BFF"/>
                </a:solidFill>
                <a:latin typeface="Arial"/>
                <a:ea typeface="Arial"/>
                <a:cs typeface="Arial"/>
              </a:rPr>
              <a:t>24,168</a:t>
            </a:r>
          </a:p>
        </p:txBody>
      </p:sp>
      <p:sp>
        <p:nvSpPr>
          <p:cNvPr id="540" name="">
            <a:extLst xmlns:a="http://schemas.openxmlformats.org/drawingml/2006/main">
              <a:ext uri="{FF2B5EF4-FFF2-40B4-BE49-F238E27FC236}">
                <a16:creationId xmlns:a16="http://schemas.microsoft.com/office/drawing/2014/main" id="{A13AAC90-2582-4450-BB9F-14A25C5365C1}"/>
              </a:ext>
            </a:extLst>
          </p:cNvPr>
          <p:cNvSpPr>
            <a:spLocks xmlns:a="http://schemas.openxmlformats.org/drawingml/2006/main" noGrp="1"/>
          </p:cNvSpPr>
          <p:nvPr/>
        </p:nvSpPr>
        <p:spPr>
          <a:xfrm xmlns:a="http://schemas.openxmlformats.org/drawingml/2006/main">
            <a:off x="8810625" y="25717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02A43"/>
                </a:solidFill>
                <a:latin typeface="Arial"/>
                <a:ea typeface="Arial"/>
                <a:cs typeface="Arial"/>
              </a:defRPr>
            </a:pPr>
            <a:r>
              <a:rPr sz="1275" b="0">
                <a:solidFill>
                  <a:srgbClr val="102A43"/>
                </a:solidFill>
                <a:latin typeface="Arial"/>
                <a:ea typeface="Arial"/>
                <a:cs typeface="Arial"/>
              </a:rPr>
              <a:t>BOGOF incremental units</a:t>
            </a:r>
          </a:p>
        </p:txBody>
      </p:sp>
      <p:sp>
        <p:nvSpPr>
          <p:cNvPr id="541" name="">
            <a:extLst xmlns:a="http://schemas.openxmlformats.org/drawingml/2006/main">
              <a:ext uri="{FF2B5EF4-FFF2-40B4-BE49-F238E27FC236}">
                <a16:creationId xmlns:a16="http://schemas.microsoft.com/office/drawing/2014/main" id="{E6D0A57C-8AA6-4F9B-B011-CD1E1A60E074}"/>
              </a:ext>
            </a:extLst>
          </p:cNvPr>
          <p:cNvSpPr>
            <a:spLocks xmlns:a="http://schemas.openxmlformats.org/drawingml/2006/main" noGrp="1"/>
          </p:cNvSpPr>
          <p:nvPr/>
        </p:nvSpPr>
        <p:spPr>
          <a:xfrm xmlns:a="http://schemas.openxmlformats.org/drawingml/2006/main">
            <a:off x="8810625" y="347662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18A999"/>
                </a:solidFill>
                <a:latin typeface="Arial"/>
                <a:ea typeface="Arial"/>
                <a:cs typeface="Arial"/>
              </a:defRPr>
            </a:pPr>
            <a:r>
              <a:rPr sz="2850" b="1">
                <a:solidFill>
                  <a:srgbClr val="18A999"/>
                </a:solidFill>
                <a:latin typeface="Arial"/>
                <a:ea typeface="Arial"/>
                <a:cs typeface="Arial"/>
              </a:rPr>
              <a:t>12.87M</a:t>
            </a:r>
          </a:p>
        </p:txBody>
      </p:sp>
      <p:sp>
        <p:nvSpPr>
          <p:cNvPr id="542" name="">
            <a:extLst xmlns:a="http://schemas.openxmlformats.org/drawingml/2006/main">
              <a:ext uri="{FF2B5EF4-FFF2-40B4-BE49-F238E27FC236}">
                <a16:creationId xmlns:a16="http://schemas.microsoft.com/office/drawing/2014/main" id="{36BE818D-B6B5-4284-85E0-9E3B01CAAAFA}"/>
              </a:ext>
            </a:extLst>
          </p:cNvPr>
          <p:cNvSpPr>
            <a:spLocks xmlns:a="http://schemas.openxmlformats.org/drawingml/2006/main" noGrp="1"/>
          </p:cNvSpPr>
          <p:nvPr/>
        </p:nvSpPr>
        <p:spPr>
          <a:xfrm xmlns:a="http://schemas.openxmlformats.org/drawingml/2006/main">
            <a:off x="8810625"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02A43"/>
                </a:solidFill>
                <a:latin typeface="Arial"/>
                <a:ea typeface="Arial"/>
                <a:cs typeface="Arial"/>
              </a:defRPr>
            </a:pPr>
            <a:r>
              <a:rPr sz="1275" b="0">
                <a:solidFill>
                  <a:srgbClr val="102A43"/>
                </a:solidFill>
                <a:latin typeface="Arial"/>
                <a:ea typeface="Arial"/>
                <a:cs typeface="Arial"/>
              </a:rPr>
              <a:t>500 Cashback incremental revenue</a:t>
            </a:r>
          </a:p>
        </p:txBody>
      </p:sp>
      <p:sp>
        <p:nvSpPr>
          <p:cNvPr id="543" name="">
            <a:extLst xmlns:a="http://schemas.openxmlformats.org/drawingml/2006/main">
              <a:ext uri="{FF2B5EF4-FFF2-40B4-BE49-F238E27FC236}">
                <a16:creationId xmlns:a16="http://schemas.microsoft.com/office/drawing/2014/main" id="{CC2244B7-5881-4D14-BCCB-719A05B47F53}"/>
              </a:ext>
            </a:extLst>
          </p:cNvPr>
          <p:cNvSpPr>
            <a:spLocks xmlns:a="http://schemas.openxmlformats.org/drawingml/2006/main" noGrp="1"/>
          </p:cNvSpPr>
          <p:nvPr/>
        </p:nvSpPr>
        <p:spPr>
          <a:xfrm xmlns:a="http://schemas.openxmlformats.org/drawingml/2006/main">
            <a:off x="457200" y="6496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26579"/>
                </a:solidFill>
                <a:latin typeface="Arial"/>
                <a:ea typeface="Arial"/>
                <a:cs typeface="Arial"/>
              </a:defRPr>
            </a:pPr>
            <a:r>
              <a:rPr sz="900" b="0">
                <a:solidFill>
                  <a:srgbClr val="526579"/>
                </a:solidFill>
                <a:latin typeface="Arial"/>
                <a:ea typeface="Arial"/>
                <a:cs typeface="Arial"/>
              </a:rPr>
              <a:t>Retail Promotions Analysis</a:t>
            </a:r>
          </a:p>
        </p:txBody>
      </p:sp>
      <p:sp>
        <p:nvSpPr>
          <p:cNvPr id="544" name="">
            <a:extLst xmlns:a="http://schemas.openxmlformats.org/drawingml/2006/main">
              <a:ext uri="{FF2B5EF4-FFF2-40B4-BE49-F238E27FC236}">
                <a16:creationId xmlns:a16="http://schemas.microsoft.com/office/drawing/2014/main" id="{649C07B4-C9ED-4968-BB4E-499A12621C34}"/>
              </a:ext>
            </a:extLst>
          </p:cNvPr>
          <p:cNvSpPr>
            <a:spLocks xmlns:a="http://schemas.openxmlformats.org/drawingml/2006/main" noGrp="1"/>
          </p:cNvSpPr>
          <p:nvPr/>
        </p:nvSpPr>
        <p:spPr>
          <a:xfrm xmlns:a="http://schemas.openxmlformats.org/drawingml/2006/main">
            <a:off x="11191875"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26579"/>
                </a:solidFill>
                <a:latin typeface="Arial"/>
                <a:ea typeface="Arial"/>
                <a:cs typeface="Arial"/>
              </a:defRPr>
            </a:pPr>
            <a:r>
              <a:rPr sz="900" b="0">
                <a:solidFill>
                  <a:srgbClr val="526579"/>
                </a:solidFill>
                <a:latin typeface="Arial"/>
                <a:ea typeface="Arial"/>
                <a:cs typeface="Arial"/>
              </a:rPr>
              <a:t>8</a:t>
            </a:r>
          </a:p>
        </p:txBody>
      </p:sp>
    </p:spTree>
    <p:extLst>
      <p:ext uri="{BB962C8B-B14F-4D97-AF65-F5344CB8AC3E}">
        <p14:creationId xmlns:p14="http://schemas.microsoft.com/office/powerpoint/2010/main" val="33318791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rPr>
                <a:solidFill>
                  <a:schemeClr val="bg1">
                    <a:lumMod val="65000"/>
                    <a:lumOff val="35000"/>
                  </a:schemeClr>
                </a:solidFill>
              </a:rPr>
              <a:t/>
            </a: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69ADA83D-DF77-AA76-6DA0-7A70CD7A4D20}" type="slidenum">
              <a:rPr>
                <a:solidFill>
                  <a:schemeClr val="bg1">
                    <a:lumMod val="65000"/>
                    <a:lumOff val="35000"/>
                  </a:schemeClr>
                </a:solidFill>
              </a:rPr>
              <a:t/>
            </a:fld>
            <a:endParaRPr>
              <a:solidFill>
                <a:schemeClr val="bg1">
                  <a:lumMod val="65000"/>
                  <a:lumOff val="35000"/>
                </a:schemeClr>
              </a:solidFill>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a:solidFill>
                  <a:srgbClr val="FF4709"/>
                </a:solidFill>
              </a:rPr>
              <a:t/>
            </a:r>
            <a:endParaRPr sz="1800">
              <a:solidFill>
                <a:srgbClr val="FF4709"/>
              </a:solidFill>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a:solidFill>
                  <a:srgbClr val="FF4709"/>
                </a:solidFill>
              </a:rPr>
              <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a:solidFill>
                  <a:srgbClr val="FF4709"/>
                </a:solidFill>
              </a:rPr>
              <a:t/>
            </a:r>
          </a:p>
        </p:txBody>
      </p:sp>
      <p:sp>
        <p:nvSpPr>
          <p:cNvPr id="5" name="Google Shape;534;p58">
            <a:extLst xmlns:a="http://schemas.openxmlformats.org/drawingml/2006/main">
              <a:ext uri="{FF2B5EF4-FFF2-40B4-BE49-F238E27FC236}">
                <a16:creationId xmlns:a16="http://schemas.microsoft.com/office/drawing/2014/main" id="{54BF3B54-2B79-13E5-A49F-40DB04B8F90A}"/>
              </a:ext>
            </a:extLst>
          </p:cNvPr>
          <p:cNvSpPr>
            <a:spLocks xmlns:a="http://schemas.openxmlformats.org/drawingml/2006/main" noGrp="1"/>
          </p:cNvSpPr>
          <p:nvPr/>
        </p:nvSpPr>
        <p:spPr>
          <a:xfrm xmlns:a="http://schemas.openxmlformats.org/drawingml/2006/main">
            <a:off x="393700" y="1150259"/>
            <a:ext cx="6308042" cy="139700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solidFill>
                  <a:schemeClr val="bg1">
                    <a:lumMod val="65000"/>
                    <a:lumOff val="35000"/>
                  </a:schemeClr>
                </a:solidFill>
              </a:rPr>
              <a:t/>
            </a:r>
          </a:p>
        </p:txBody>
      </p:sp>
      <p:sp>
        <p:nvSpPr>
          <p:cNvPr id="535" name="">
            <a:extLst xmlns:a="http://schemas.openxmlformats.org/drawingml/2006/main">
              <a:ext uri="{FF2B5EF4-FFF2-40B4-BE49-F238E27FC236}">
                <a16:creationId xmlns:a16="http://schemas.microsoft.com/office/drawing/2014/main" id="{A1D1DC1A-7B15-42D5-BE2C-9F26790D09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536" name="">
            <a:extLst xmlns:a="http://schemas.openxmlformats.org/drawingml/2006/main">
              <a:ext uri="{FF2B5EF4-FFF2-40B4-BE49-F238E27FC236}">
                <a16:creationId xmlns:a16="http://schemas.microsoft.com/office/drawing/2014/main" id="{171D9247-B92F-402A-A449-6F64FB4784B4}"/>
              </a:ext>
            </a:extLst>
          </p:cNvPr>
          <p:cNvSpPr>
            <a:spLocks xmlns:a="http://schemas.openxmlformats.org/drawingml/2006/main" noGrp="1"/>
          </p:cNvSpPr>
          <p:nvPr/>
        </p:nvSpPr>
        <p:spPr>
          <a:xfrm xmlns:a="http://schemas.openxmlformats.org/drawingml/2006/main">
            <a:off x="457200" y="3048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A43"/>
                </a:solidFill>
                <a:latin typeface="Arial"/>
                <a:ea typeface="Arial"/>
                <a:cs typeface="Arial"/>
              </a:defRPr>
            </a:pPr>
            <a:r>
              <a:rPr sz="2550" b="1">
                <a:solidFill>
                  <a:srgbClr val="102A43"/>
                </a:solidFill>
                <a:latin typeface="Arial"/>
                <a:ea typeface="Arial"/>
                <a:cs typeface="Arial"/>
              </a:rPr>
              <a:t>Combo1 accounts for most of Bengaluru's revenue gain</a:t>
            </a:r>
          </a:p>
        </p:txBody>
      </p:sp>
      <p:sp>
        <p:nvSpPr>
          <p:cNvPr id="537" name="">
            <a:extLst xmlns:a="http://schemas.openxmlformats.org/drawingml/2006/main">
              <a:ext uri="{FF2B5EF4-FFF2-40B4-BE49-F238E27FC236}">
                <a16:creationId xmlns:a16="http://schemas.microsoft.com/office/drawing/2014/main" id="{03F1C815-A673-488B-BAEA-2A6DAB911ECF}"/>
              </a:ext>
            </a:extLst>
          </p:cNvPr>
          <p:cNvSpPr>
            <a:spLocks xmlns:a="http://schemas.openxmlformats.org/drawingml/2006/main" noGrp="1"/>
          </p:cNvSpPr>
          <p:nvPr/>
        </p:nvSpPr>
        <p:spPr>
          <a:xfrm xmlns:a="http://schemas.openxmlformats.org/drawingml/2006/main">
            <a:off x="476250" y="923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Overall Bengaluru revenue increased from 32.91M to 59.68M after promotions</a:t>
            </a:r>
          </a:p>
        </p:txBody>
      </p:sp>
      <p:graphicFrame>
        <p:nvGraphicFramePr>
          <p:cNvPr id="555" name="Chart"/>
          <p:cNvGraphicFramePr/>
          <p:nvPr/>
        </p:nvGraphicFramePr>
        <p:xfrm>
          <a:off xmlns:a="http://schemas.openxmlformats.org/drawingml/2006/main" x="619125" y="1571625"/>
          <a:ext xmlns:a="http://schemas.openxmlformats.org/drawingml/2006/main" cx="7858125" cy="4381500"/>
        </p:xfrm>
        <a:graphic xmlns:a="http://schemas.openxmlformats.org/drawingml/2006/main">
          <a:graphicData uri="http://schemas.openxmlformats.org/drawingml/2006/chart">
            <c:chart xmlns:r="http://schemas.openxmlformats.org/officeDocument/2006/relationships" xmlns:c="http://schemas.openxmlformats.org/drawingml/2006/chart" r:id="R03b91db1737b4ddb"/>
          </a:graphicData>
        </a:graphic>
      </p:graphicFrame>
      <p:sp>
        <p:nvSpPr>
          <p:cNvPr id="539" name="">
            <a:extLst xmlns:a="http://schemas.openxmlformats.org/drawingml/2006/main">
              <a:ext uri="{FF2B5EF4-FFF2-40B4-BE49-F238E27FC236}">
                <a16:creationId xmlns:a16="http://schemas.microsoft.com/office/drawing/2014/main" id="{A2769B4E-7AA0-4211-955E-83DBF6E283E8}"/>
              </a:ext>
            </a:extLst>
          </p:cNvPr>
          <p:cNvSpPr>
            <a:spLocks xmlns:a="http://schemas.openxmlformats.org/drawingml/2006/main" noGrp="1"/>
          </p:cNvSpPr>
          <p:nvPr/>
        </p:nvSpPr>
        <p:spPr>
          <a:xfrm xmlns:a="http://schemas.openxmlformats.org/drawingml/2006/main">
            <a:off x="9191625" y="1952625"/>
            <a:ext cx="2238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150" b="1">
                <a:solidFill>
                  <a:srgbClr val="18A999"/>
                </a:solidFill>
                <a:latin typeface="Arial"/>
                <a:ea typeface="Arial"/>
                <a:cs typeface="Arial"/>
              </a:defRPr>
            </a:pPr>
            <a:r>
              <a:rPr sz="3150" b="1">
                <a:solidFill>
                  <a:srgbClr val="18A999"/>
                </a:solidFill>
                <a:latin typeface="Arial"/>
                <a:ea typeface="Arial"/>
                <a:cs typeface="Arial"/>
              </a:rPr>
              <a:t>81.34%</a:t>
            </a:r>
          </a:p>
        </p:txBody>
      </p:sp>
      <p:sp>
        <p:nvSpPr>
          <p:cNvPr id="540" name="">
            <a:extLst xmlns:a="http://schemas.openxmlformats.org/drawingml/2006/main">
              <a:ext uri="{FF2B5EF4-FFF2-40B4-BE49-F238E27FC236}">
                <a16:creationId xmlns:a16="http://schemas.microsoft.com/office/drawing/2014/main" id="{CC8B7539-752D-450E-83F0-D285739A8CAC}"/>
              </a:ext>
            </a:extLst>
          </p:cNvPr>
          <p:cNvSpPr>
            <a:spLocks xmlns:a="http://schemas.openxmlformats.org/drawingml/2006/main" noGrp="1"/>
          </p:cNvSpPr>
          <p:nvPr/>
        </p:nvSpPr>
        <p:spPr>
          <a:xfrm xmlns:a="http://schemas.openxmlformats.org/drawingml/2006/main">
            <a:off x="9191625" y="2667000"/>
            <a:ext cx="2238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A43"/>
                </a:solidFill>
                <a:latin typeface="Arial"/>
                <a:ea typeface="Arial"/>
                <a:cs typeface="Arial"/>
              </a:defRPr>
            </a:pPr>
            <a:r>
              <a:rPr sz="1350" b="0">
                <a:solidFill>
                  <a:srgbClr val="102A43"/>
                </a:solidFill>
                <a:latin typeface="Arial"/>
                <a:ea typeface="Arial"/>
                <a:cs typeface="Arial"/>
              </a:rPr>
              <a:t>overall revenue increase</a:t>
            </a:r>
          </a:p>
        </p:txBody>
      </p:sp>
      <p:sp>
        <p:nvSpPr>
          <p:cNvPr id="541" name="">
            <a:extLst xmlns:a="http://schemas.openxmlformats.org/drawingml/2006/main">
              <a:ext uri="{FF2B5EF4-FFF2-40B4-BE49-F238E27FC236}">
                <a16:creationId xmlns:a16="http://schemas.microsoft.com/office/drawing/2014/main" id="{15917DF3-669E-4E67-BD3E-02B7977707D6}"/>
              </a:ext>
            </a:extLst>
          </p:cNvPr>
          <p:cNvSpPr>
            <a:spLocks xmlns:a="http://schemas.openxmlformats.org/drawingml/2006/main" noGrp="1"/>
          </p:cNvSpPr>
          <p:nvPr/>
        </p:nvSpPr>
        <p:spPr>
          <a:xfrm xmlns:a="http://schemas.openxmlformats.org/drawingml/2006/main">
            <a:off x="9048750" y="35718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F6BFF"/>
                </a:solidFill>
                <a:latin typeface="Arial"/>
                <a:ea typeface="Arial"/>
                <a:cs typeface="Arial"/>
              </a:defRPr>
            </a:pPr>
            <a:r>
              <a:rPr sz="1500" b="1">
                <a:solidFill>
                  <a:srgbClr val="2F6BFF"/>
                </a:solidFill>
                <a:latin typeface="Arial"/>
                <a:ea typeface="Arial"/>
                <a:cs typeface="Arial"/>
              </a:rPr>
              <a:t>Recommended focus</a:t>
            </a:r>
          </a:p>
        </p:txBody>
      </p:sp>
      <p:sp>
        <p:nvSpPr>
          <p:cNvPr id="542" name="">
            <a:extLst xmlns:a="http://schemas.openxmlformats.org/drawingml/2006/main">
              <a:ext uri="{FF2B5EF4-FFF2-40B4-BE49-F238E27FC236}">
                <a16:creationId xmlns:a16="http://schemas.microsoft.com/office/drawing/2014/main" id="{49018D26-51E5-4DEC-B53D-5EF5589D35A5}"/>
              </a:ext>
            </a:extLst>
          </p:cNvPr>
          <p:cNvSpPr>
            <a:spLocks xmlns:a="http://schemas.openxmlformats.org/drawingml/2006/main" noGrp="1"/>
          </p:cNvSpPr>
          <p:nvPr/>
        </p:nvSpPr>
        <p:spPr>
          <a:xfrm xmlns:a="http://schemas.openxmlformats.org/drawingml/2006/main">
            <a:off x="9001125" y="4000500"/>
            <a:ext cx="261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A43"/>
                </a:solidFill>
                <a:latin typeface="Arial"/>
                <a:ea typeface="Arial"/>
                <a:cs typeface="Arial"/>
              </a:defRPr>
            </a:pPr>
            <a:r>
              <a:rPr sz="1350" b="0">
                <a:solidFill>
                  <a:srgbClr val="102A43"/>
                </a:solidFill>
                <a:latin typeface="Arial"/>
                <a:ea typeface="Arial"/>
                <a:cs typeface="Arial"/>
              </a:rPr>
              <a:t>Protect stock availability for Combo1. Continue testing Grocery and Home categories. Rework Personal Care, where revenue fell 32.39%.</a:t>
            </a:r>
          </a:p>
        </p:txBody>
      </p:sp>
      <p:sp>
        <p:nvSpPr>
          <p:cNvPr id="543" name="">
            <a:extLst xmlns:a="http://schemas.openxmlformats.org/drawingml/2006/main">
              <a:ext uri="{FF2B5EF4-FFF2-40B4-BE49-F238E27FC236}">
                <a16:creationId xmlns:a16="http://schemas.microsoft.com/office/drawing/2014/main" id="{E4B91B7F-F57E-4F94-B329-64EEFA9B577A}"/>
              </a:ext>
            </a:extLst>
          </p:cNvPr>
          <p:cNvSpPr>
            <a:spLocks xmlns:a="http://schemas.openxmlformats.org/drawingml/2006/main" noGrp="1"/>
          </p:cNvSpPr>
          <p:nvPr/>
        </p:nvSpPr>
        <p:spPr>
          <a:xfrm xmlns:a="http://schemas.openxmlformats.org/drawingml/2006/main">
            <a:off x="457200" y="6496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0">
                <a:solidFill>
                  <a:srgbClr val="526579"/>
                </a:solidFill>
                <a:latin typeface="Arial"/>
                <a:ea typeface="Arial"/>
                <a:cs typeface="Arial"/>
              </a:defRPr>
            </a:pPr>
            <a:r>
              <a:rPr sz="900" b="0">
                <a:solidFill>
                  <a:srgbClr val="526579"/>
                </a:solidFill>
                <a:latin typeface="Arial"/>
                <a:ea typeface="Arial"/>
                <a:cs typeface="Arial"/>
              </a:rPr>
              <a:t>Retail Promotions Analysis</a:t>
            </a:r>
          </a:p>
        </p:txBody>
      </p:sp>
      <p:sp>
        <p:nvSpPr>
          <p:cNvPr id="544" name="">
            <a:extLst xmlns:a="http://schemas.openxmlformats.org/drawingml/2006/main">
              <a:ext uri="{FF2B5EF4-FFF2-40B4-BE49-F238E27FC236}">
                <a16:creationId xmlns:a16="http://schemas.microsoft.com/office/drawing/2014/main" id="{84F9F626-3B30-4EAA-92E9-5981EC066FBC}"/>
              </a:ext>
            </a:extLst>
          </p:cNvPr>
          <p:cNvSpPr>
            <a:spLocks xmlns:a="http://schemas.openxmlformats.org/drawingml/2006/main" noGrp="1"/>
          </p:cNvSpPr>
          <p:nvPr/>
        </p:nvSpPr>
        <p:spPr>
          <a:xfrm xmlns:a="http://schemas.openxmlformats.org/drawingml/2006/main">
            <a:off x="11191875"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0">
                <a:solidFill>
                  <a:srgbClr val="526579"/>
                </a:solidFill>
                <a:latin typeface="Arial"/>
                <a:ea typeface="Arial"/>
                <a:cs typeface="Arial"/>
              </a:defRPr>
            </a:pPr>
            <a:r>
              <a:rPr sz="900" b="0">
                <a:solidFill>
                  <a:srgbClr val="526579"/>
                </a:solidFill>
                <a:latin typeface="Arial"/>
                <a:ea typeface="Arial"/>
                <a:cs typeface="Arial"/>
              </a:rPr>
              <a:t>9</a:t>
            </a:r>
          </a:p>
        </p:txBody>
      </p:sp>
    </p:spTree>
    <p:extLst>
      <p:ext uri="{BB962C8B-B14F-4D97-AF65-F5344CB8AC3E}">
        <p14:creationId xmlns:p14="http://schemas.microsoft.com/office/powerpoint/2010/main" val="1393456992"/>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Lora Roboto">
      <a:majorFont>
        <a:latin typeface="Lora"/>
        <a:ea typeface=""/>
        <a:cs typeface=""/>
      </a:majorFont>
      <a:minorFont>
        <a:latin typeface="Roboto"/>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2026-09-07T02:31:21.1860000Z</dcterms:created>
  <dcterms:modified xsi:type="dcterms:W3CDTF">2026-09-07T02:31:21.1860000Z</dcterms:modified>
</coreProperties>
</file>